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Unit 02 of Applied AI Agent Architectures. Today we step up from Level 1 foundation assistants into Level 2: Visual Workflow Orchestration with n8n and Langflow.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explore why raw Python scripts do not scale across cross-functional operations teams and how visual DAGs solve deployment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paradigms have distinct strengths. Production organizations frequently use hybrid topologies: visual flows for SaaS ingestion and stateful code graphs for deep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lifecycle of a real-time webhook transaction through the node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operational focus of n8n with the AI experimentation focus of Langflow.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hmac.compare_digest is mandatory to avoid timing vulnerability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AINT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Artificial Intelligence &amp; Autonomous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AINT 2050 LECTURE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Visual Workflow Automation with n8n and Langflow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Bridging Imperative Code and Enterprise Low-Code AI Topologies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Instructor: Tim Swarm | Laramie County Community College</a:t>
            </a:r>
            <a:br/>
            <a:r>
              <a:t>Course: AINT 2050 -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Visual Node Paradigm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modern enterprise operations need low-code AI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WORKFLOW PARADIGMS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Imperative Python vs. Visual Node Graphs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low-level programmatic control against high-velocity visual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Imperative Python (Level 1 / 3)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Algorithmic Control: </a:t>
            </a:r>
            <a:r>
              <a:rPr sz="1300">
                <a:solidFill>
                  <a:srgbClr val="1E293B"/>
                </a:solidFill>
              </a:rPr>
              <a:t>Full programmatic control over memory, threads, and custom data structures.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Engineering Overhead: </a:t>
            </a:r>
            <a:r>
              <a:rPr sz="1300">
                <a:solidFill>
                  <a:srgbClr val="1E293B"/>
                </a:solidFill>
              </a:rPr>
              <a:t>Requires git branches, PRs, CI/CD pipelines, and developer deployments.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Opaque Runtime State: </a:t>
            </a:r>
            <a:r>
              <a:rPr sz="1300">
                <a:solidFill>
                  <a:srgbClr val="1E293B"/>
                </a:solidFill>
              </a:rPr>
              <a:t>Execution state and intermediate variables are invisible to non-engineers.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Custom Plumbing: </a:t>
            </a:r>
            <a:r>
              <a:rPr sz="1300">
                <a:solidFill>
                  <a:srgbClr val="1E293B"/>
                </a:solidFill>
              </a:rPr>
              <a:t>Every API client, webhook receiver, and retry loop must be hand-coded.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Visual Node Canvases (Level 2)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Rapid Composition: </a:t>
            </a:r>
            <a:r>
              <a:rPr sz="1300">
                <a:solidFill>
                  <a:srgbClr val="1E293B"/>
                </a:solidFill>
              </a:rPr>
              <a:t>Assemble complex AI pipelines visually via drag-and-drop nodes.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Pre-Built Connectors: </a:t>
            </a:r>
            <a:r>
              <a:rPr sz="1300">
                <a:solidFill>
                  <a:srgbClr val="1E293B"/>
                </a:solidFill>
              </a:rPr>
              <a:t>Direct access to 400+ SaaS integrations, database nodes, and webhook triggers.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Visual Telemetry: </a:t>
            </a:r>
            <a:r>
              <a:rPr sz="1300">
                <a:solidFill>
                  <a:srgbClr val="1E293B"/>
                </a:solidFill>
              </a:rPr>
              <a:t>Inspect every intermediate payload, token count, and execution latency visually.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Cross-Functional Agility: </a:t>
            </a:r>
            <a:r>
              <a:rPr sz="1300">
                <a:solidFill>
                  <a:srgbClr val="1E293B"/>
                </a:solidFill>
              </a:rPr>
              <a:t>Business leads and operations staff can adjust prompts and routing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N8N ORCHESTRATION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End-to-End n8n AI Agent Workflow Lifecycle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Tracing real-time webhook payload ingestion, model reasoning, and tool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5-Stage Webhook Execution Pipeline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1. Inbound Webhook: </a:t>
            </a:r>
            <a:r>
              <a:rPr sz="1400">
                <a:solidFill>
                  <a:srgbClr val="1E293B"/>
                </a:solidFill>
                <a:latin typeface="Calibri"/>
              </a:rPr>
              <a:t>External service emits event POST payload to /webhook/ticket endpoint.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2. HMAC Security: </a:t>
            </a:r>
            <a:r>
              <a:rPr sz="1400">
                <a:solidFill>
                  <a:srgbClr val="1E293B"/>
                </a:solidFill>
                <a:latin typeface="Calibri"/>
              </a:rPr>
              <a:t>Cryptographic node verifies SHA-256 signature against enterprise secret.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3. AI Agent Node: </a:t>
            </a:r>
            <a:r>
              <a:rPr sz="1400">
                <a:solidFill>
                  <a:srgbClr val="1E293B"/>
                </a:solidFill>
                <a:latin typeface="Calibri"/>
              </a:rPr>
              <a:t>Claude 3.5 Sonnet / Gemini Pro reasons over customer request and schemas.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4. Tool Dispatch: </a:t>
            </a:r>
            <a:r>
              <a:rPr sz="1400">
                <a:solidFill>
                  <a:srgbClr val="1E293B"/>
                </a:solidFill>
                <a:latin typeface="Calibri"/>
              </a:rPr>
              <a:t>Modular HTTP nodes query internal CRM or issue customer refund credits.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5. Response Post: </a:t>
            </a:r>
            <a:r>
              <a:rPr sz="1400">
                <a:solidFill>
                  <a:srgbClr val="1E293B"/>
                </a:solidFill>
                <a:latin typeface="Calibri"/>
              </a:rPr>
              <a:t>Dispatcher formats and delivers synthesized answer to Slack or Zendesk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PLATFORM SELECTION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n8n vs. Langflow: Choosing the Right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Comparing operational multi-SaaS automation against component-based RAG prototyping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n8n Workflows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Target Architecture: </a:t>
            </a:r>
            <a:r>
              <a:rPr sz="1300">
                <a:solidFill>
                  <a:srgbClr val="1E293B"/>
                </a:solidFill>
              </a:rPr>
              <a:t>Multi-SaaS enterprise automations, scheduled batch jobs, and event triggers.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Ecosystem Integrations: </a:t>
            </a:r>
            <a:r>
              <a:rPr sz="1300">
                <a:solidFill>
                  <a:srgbClr val="1E293B"/>
                </a:solidFill>
              </a:rPr>
              <a:t>Hundreds of enterprise business connectors (Salesforce, Stripe, Jira, Slack).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Trigger Mechanisms: </a:t>
            </a:r>
            <a:r>
              <a:rPr sz="1300">
                <a:solidFill>
                  <a:srgbClr val="1E293B"/>
                </a:solidFill>
              </a:rPr>
              <a:t>HTTP webhooks, polling intervals, cron schedules, app event streams.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Runtime Engine: </a:t>
            </a:r>
            <a:r>
              <a:rPr sz="1300">
                <a:solidFill>
                  <a:srgbClr val="1E293B"/>
                </a:solidFill>
              </a:rPr>
              <a:t>Node.js asynchronous runtime with LangChain core agent bindings.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Langflow Canvases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Target Architecture: </a:t>
            </a:r>
            <a:r>
              <a:rPr sz="1300">
                <a:solidFill>
                  <a:srgbClr val="1E293B"/>
                </a:solidFill>
              </a:rPr>
              <a:t>RAG pipeline prototyping, prompt evaluation, and vector retrieval tuning.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Ecosystem Integrations: </a:t>
            </a:r>
            <a:r>
              <a:rPr sz="1300">
                <a:solidFill>
                  <a:srgbClr val="1E293B"/>
                </a:solidFill>
              </a:rPr>
              <a:t>Native vector databases (Chroma, Pinecone, Astra DB, Milvus).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Trigger Mechanisms: </a:t>
            </a:r>
            <a:r>
              <a:rPr sz="1300">
                <a:solidFill>
                  <a:srgbClr val="1E293B"/>
                </a:solidFill>
              </a:rPr>
              <a:t>Interactive chat playground, FastAPI endpoints, pure Python SDK.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Runtime Engine: </a:t>
            </a:r>
            <a:r>
              <a:rPr sz="1300">
                <a:solidFill>
                  <a:srgbClr val="1E293B"/>
                </a:solidFill>
              </a:rPr>
              <a:t>Pure Python backend with native LangChain and LlamaIndex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SECURITY GOVERNANCE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Inbound Webhook HMAC SHA-256 Signature Verification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Securing public-facing agent endpoints against spoofing, forgery, and replay attacks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Security Safeguards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Constant-Time Comparison: </a:t>
            </a:r>
            <a:r>
              <a:rPr sz="1250">
                <a:solidFill>
                  <a:srgbClr val="1E293B"/>
                </a:solidFill>
              </a:rPr>
              <a:t>hmac.compare_digest prevents timing attack vulnerabilities across network boundaries.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Cryptographic Signing: </a:t>
            </a:r>
            <a:r>
              <a:rPr sz="1250">
                <a:solidFill>
                  <a:srgbClr val="1E293B"/>
                </a:solidFill>
              </a:rPr>
              <a:t>Guarantees payload origin authenticity and integrity before token spend.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Zero-Trust Gateway: </a:t>
            </a:r>
            <a:r>
              <a:rPr sz="1250">
                <a:solidFill>
                  <a:srgbClr val="1E293B"/>
                </a:solidFill>
              </a:rPr>
              <a:t>Invalid signatures are dropped at the HTTP boundary before triggering AI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hmac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hashlib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verify_webhook_signature(payload_bytes: bytes, secret: str, sig_header: str) -&gt; bool: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expected_hex = sig_header.replace("sha256=", "").strip()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computed = hmac.new(secret.encode(), payload_bytes, hashlib.sha256).hexdigest()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hmac.compare_digest(computed, expected_hex)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