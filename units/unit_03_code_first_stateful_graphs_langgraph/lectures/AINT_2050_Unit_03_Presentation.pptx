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to Unit 03 of Applied AI Agent Architectures. Today we transition into Level 3 of the Agent Spectrum: Code-First Stateful Graph Architectures using LangGraph.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explore why Directed Acyclic Graphs cannot represent human-like trial, error, testing, and self-correction.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Compare the structural limitations of DAGs with the flexibility of cyclical state machines.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Detail the 4-step cyclical feedback loop students implement in Lab 03.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Annotated with operator.add prevents destructive overwriting of historical notes during cycles.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with production governance and safety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002055"/>
          </a:solidFill>
          <a:ln>
            <a:solidFill>
              <a:srgbClr val="002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rIns="548640"/>
          <a:lstStyle/>
          <a:p>
            <a:pPr algn="ctr">
              <a:spcAft>
                <a:spcPts val="1000"/>
              </a:spcAft>
              <a:defRPr sz="5400" b="1">
                <a:solidFill>
                  <a:srgbClr val="FFFFFF"/>
                </a:solidFill>
                <a:latin typeface="Arial"/>
              </a:defRPr>
            </a:pPr>
            <a:r>
              <a:t>AINT</a:t>
            </a:r>
          </a:p>
          <a:p>
            <a:pPr>
              <a:defRPr sz="1600" b="1">
                <a:solidFill>
                  <a:srgbClr val="FFC001"/>
                </a:solidFill>
                <a:latin typeface="Calibri"/>
              </a:defRPr>
            </a:pPr>
            <a:r>
              <a:t>Artificial Intelligence &amp; Autonomous Systems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0" y="0"/>
            <a:ext cx="164592" cy="6858000"/>
          </a:xfrm>
          <a:prstGeom prst="rect">
            <a:avLst/>
          </a:prstGeom>
          <a:solidFill>
            <a:srgbClr val="FFC001"/>
          </a:solidFill>
          <a:ln>
            <a:solidFill>
              <a:srgbClr val="FFC0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937760" y="1371600"/>
            <a:ext cx="6675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002055"/>
                </a:solidFill>
                <a:latin typeface="Arial"/>
              </a:defRPr>
            </a:pPr>
            <a:r>
              <a:t>AINT 2050 LECTURE</a:t>
            </a:r>
          </a:p>
          <a:p>
            <a:pPr>
              <a:spcAft>
                <a:spcPts val="1400"/>
              </a:spcAft>
              <a:defRPr sz="3000" b="1">
                <a:solidFill>
                  <a:srgbClr val="0A2540"/>
                </a:solidFill>
                <a:latin typeface="Arial"/>
              </a:defRPr>
            </a:pPr>
            <a:r>
              <a:t>Code-First Stateful Graphs with LangGraph</a:t>
            </a:r>
          </a:p>
          <a:p>
            <a:pPr>
              <a:spcAft>
                <a:spcPts val="2400"/>
              </a:spcAft>
              <a:defRPr sz="1600">
                <a:solidFill>
                  <a:srgbClr val="64748B"/>
                </a:solidFill>
                <a:latin typeface="Calibri"/>
              </a:defRPr>
            </a:pPr>
            <a:r>
              <a:t>Architecting Cyclical Agent State Machines, Checkpointing &amp; HITL</a:t>
            </a:r>
          </a:p>
          <a:p>
            <a:pPr>
              <a:defRPr sz="1200">
                <a:solidFill>
                  <a:srgbClr val="1E293B"/>
                </a:solidFill>
                <a:latin typeface="Calibri"/>
              </a:defRPr>
            </a:pPr>
            <a:r>
              <a:t>Instructor: Tim Swarm | Laramie County Community College</a:t>
            </a:r>
            <a:br/>
            <a:r>
              <a:t>Course: AINT 2050 - Fall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055"/>
          </a:solidFill>
          <a:ln>
            <a:solidFill>
              <a:srgbClr val="002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2011680"/>
            <a:ext cx="182880" cy="2560320"/>
          </a:xfrm>
          <a:prstGeom prst="rect">
            <a:avLst/>
          </a:prstGeom>
          <a:solidFill>
            <a:srgbClr val="FFC001"/>
          </a:solidFill>
          <a:ln>
            <a:solidFill>
              <a:srgbClr val="FFC0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920240"/>
            <a:ext cx="9601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FC001"/>
                </a:solidFill>
                <a:latin typeface="Arial"/>
              </a:defRPr>
            </a:pPr>
            <a:r>
              <a:t>SECTION 01</a:t>
            </a:r>
          </a:p>
          <a:p>
            <a:pPr>
              <a:spcAft>
                <a:spcPts val="1200"/>
              </a:spcAft>
              <a:defRPr sz="3400" b="1">
                <a:solidFill>
                  <a:srgbClr val="FFFFFF"/>
                </a:solidFill>
                <a:latin typeface="Arial"/>
              </a:defRPr>
            </a:pPr>
            <a:r>
              <a:t>Why DAGs Fail for Advanced Agents</a:t>
            </a:r>
          </a:p>
          <a:p>
            <a:pPr>
              <a:defRPr sz="1800">
                <a:solidFill>
                  <a:srgbClr val="C8E1FA"/>
                </a:solidFill>
                <a:latin typeface="Calibri"/>
              </a:defRPr>
            </a:pPr>
            <a:r>
              <a:t>Breaking the acyclic barrier to unlock iterative reasoning and self-healing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02055"/>
                </a:solidFill>
                <a:latin typeface="Arial"/>
              </a:defRPr>
            </a:pPr>
            <a:r>
              <a:t>GRAPH TOPOLOGIES</a:t>
            </a:r>
          </a:p>
          <a:p>
            <a:pPr>
              <a:spcAft>
                <a:spcPts val="200"/>
              </a:spcAft>
              <a:defRPr sz="2000" b="1">
                <a:solidFill>
                  <a:srgbClr val="0A2540"/>
                </a:solidFill>
                <a:latin typeface="Arial"/>
              </a:defRPr>
            </a:pPr>
            <a:r>
              <a:t>Visual DAGs vs. LangGraph State Machines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Comparing linear forward-flow pipelines against cyclical stateful reasoning loops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3F7FC"/>
          </a:solidFill>
          <a:ln w="19050">
            <a:solidFill>
              <a:srgbClr val="C2D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spcAft>
                <a:spcPts val="1400"/>
              </a:spcAft>
              <a:defRPr sz="1800" b="1">
                <a:solidFill>
                  <a:srgbClr val="002055"/>
                </a:solidFill>
                <a:latin typeface="Arial"/>
              </a:defRPr>
            </a:pPr>
            <a:r>
              <a:t>Visual DAGs (Level 2)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2055"/>
                </a:solidFill>
              </a:rPr>
              <a:t>• Forward Flow: </a:t>
            </a:r>
            <a:r>
              <a:rPr sz="1300">
                <a:solidFill>
                  <a:srgbClr val="1E293B"/>
                </a:solidFill>
              </a:rPr>
              <a:t>Data flows strictly forward from source to sink without backward recursion.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2055"/>
                </a:solidFill>
              </a:rPr>
              <a:t>• Loop Workarounds: </a:t>
            </a:r>
            <a:r>
              <a:rPr sz="1300">
                <a:solidFill>
                  <a:srgbClr val="1E293B"/>
                </a:solidFill>
              </a:rPr>
              <a:t>Iterative loops must be unrolled into repetitive, duplicated nodes.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2055"/>
                </a:solidFill>
              </a:rPr>
              <a:t>• Ad-hoc Schemas: </a:t>
            </a:r>
            <a:r>
              <a:rPr sz="1300">
                <a:solidFill>
                  <a:srgbClr val="1E293B"/>
                </a:solidFill>
              </a:rPr>
              <a:t>State is passed as untyped JSON payloads across arbitrary connectors.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2055"/>
                </a:solidFill>
              </a:rPr>
              <a:t>• Target Use Case: </a:t>
            </a:r>
            <a:r>
              <a:rPr sz="1300">
                <a:solidFill>
                  <a:srgbClr val="1E293B"/>
                </a:solidFill>
              </a:rPr>
              <a:t>Engineered for linear SaaS integrations, notifications, and webhooks.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FFFDF0"/>
          </a:solidFill>
          <a:ln w="19050">
            <a:solidFill>
              <a:srgbClr val="F0C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spcAft>
                <a:spcPts val="1400"/>
              </a:spcAft>
              <a:defRPr sz="1800" b="1">
                <a:solidFill>
                  <a:srgbClr val="8C5F00"/>
                </a:solidFill>
                <a:latin typeface="Arial"/>
              </a:defRPr>
            </a:pPr>
            <a:r>
              <a:t>LangGraph State Machines (Level 3)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8C5F00"/>
                </a:solidFill>
              </a:rPr>
              <a:t>• Cyclical Edges: </a:t>
            </a:r>
            <a:r>
              <a:rPr sz="1300">
                <a:solidFill>
                  <a:srgbClr val="1E293B"/>
                </a:solidFill>
              </a:rPr>
              <a:t>Backward edges enable true autonomous trial, evaluation, and correction.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8C5F00"/>
                </a:solidFill>
              </a:rPr>
              <a:t>• Typed State Schema: </a:t>
            </a:r>
            <a:r>
              <a:rPr sz="1300">
                <a:solidFill>
                  <a:srgbClr val="1E293B"/>
                </a:solidFill>
              </a:rPr>
              <a:t>Centralized TypedDict defines the single strongly-typed source of truth.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8C5F00"/>
                </a:solidFill>
              </a:rPr>
              <a:t>• State Reducers: </a:t>
            </a:r>
            <a:r>
              <a:rPr sz="1300">
                <a:solidFill>
                  <a:srgbClr val="1E293B"/>
                </a:solidFill>
              </a:rPr>
              <a:t>operator.add and custom reducers govern immutable history append.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8C5F00"/>
                </a:solidFill>
              </a:rPr>
              <a:t>• Target Use Case: </a:t>
            </a:r>
            <a:r>
              <a:rPr sz="1300">
                <a:solidFill>
                  <a:srgbClr val="1E293B"/>
                </a:solidFill>
              </a:rPr>
              <a:t>Engineered for self-healing code, deep research, and reflection agents.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02055"/>
                </a:solidFill>
                <a:latin typeface="Arial"/>
              </a:defRPr>
            </a:pPr>
            <a:r>
              <a:t>CYCLICAL EXECUTION</a:t>
            </a:r>
          </a:p>
          <a:p>
            <a:pPr>
              <a:spcAft>
                <a:spcPts val="200"/>
              </a:spcAft>
              <a:defRPr sz="2000" b="1">
                <a:solidFill>
                  <a:srgbClr val="0A2540"/>
                </a:solidFill>
                <a:latin typeface="Arial"/>
              </a:defRPr>
            </a:pPr>
            <a:r>
              <a:t>The Self-Healing Code Refactoring Cycle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A 5-step stateful feedback loop for automated code diagnosis, patching, and verification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spcAft>
                <a:spcPts val="1400"/>
              </a:spcAft>
              <a:defRPr sz="1700" b="1">
                <a:solidFill>
                  <a:srgbClr val="002055"/>
                </a:solidFill>
                <a:latin typeface="Arial"/>
              </a:defRPr>
            </a:pPr>
            <a:r>
              <a:t>StateGraph Iterative Loop Stages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2055"/>
                </a:solidFill>
                <a:latin typeface="Calibri"/>
              </a:rPr>
              <a:t>► 1. Test Runner Node: </a:t>
            </a:r>
            <a:r>
              <a:rPr sz="1400">
                <a:solidFill>
                  <a:srgbClr val="1E293B"/>
                </a:solidFill>
                <a:latin typeface="Calibri"/>
              </a:rPr>
              <a:t>Executes unit test suite against candidate code and captures exit code and stderr.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2055"/>
                </a:solidFill>
                <a:latin typeface="Calibri"/>
              </a:rPr>
              <a:t>► 2. Conditional Edge: </a:t>
            </a:r>
            <a:r>
              <a:rPr sz="1400">
                <a:solidFill>
                  <a:srgbClr val="1E293B"/>
                </a:solidFill>
                <a:latin typeface="Calibri"/>
              </a:rPr>
              <a:t>Inspects state['tests_passed'] boolean and remaining iteration budget.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2055"/>
                </a:solidFill>
                <a:latin typeface="Calibri"/>
              </a:rPr>
              <a:t>► 3. Diagnosis &amp; Analyzer Node: </a:t>
            </a:r>
            <a:r>
              <a:rPr sz="1400">
                <a:solidFill>
                  <a:srgbClr val="1E293B"/>
                </a:solidFill>
                <a:latin typeface="Calibri"/>
              </a:rPr>
              <a:t>LLM parses traceback and identifies precise syntax or logical defect.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2055"/>
                </a:solidFill>
                <a:latin typeface="Calibri"/>
              </a:rPr>
              <a:t>► 4. Targeted Patch Node: </a:t>
            </a:r>
            <a:r>
              <a:rPr sz="1400">
                <a:solidFill>
                  <a:srgbClr val="1E293B"/>
                </a:solidFill>
                <a:latin typeface="Calibri"/>
              </a:rPr>
              <a:t>Emits refactored code block and appends diagnostic entry to fix_history.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2055"/>
                </a:solidFill>
                <a:latin typeface="Calibri"/>
              </a:rPr>
              <a:t>► 5. Completion Sentinel: </a:t>
            </a:r>
            <a:r>
              <a:rPr sz="1400">
                <a:solidFill>
                  <a:srgbClr val="1E293B"/>
                </a:solidFill>
                <a:latin typeface="Calibri"/>
              </a:rPr>
              <a:t>Routes safely to END sentinel when tests succeed or iteration cap is reached.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02055"/>
                </a:solidFill>
                <a:latin typeface="Arial"/>
              </a:defRPr>
            </a:pPr>
            <a:r>
              <a:t>STATE DESIGN</a:t>
            </a:r>
          </a:p>
          <a:p>
            <a:pPr>
              <a:spcAft>
                <a:spcPts val="200"/>
              </a:spcAft>
              <a:defRPr sz="2000" b="1">
                <a:solidFill>
                  <a:srgbClr val="0A2540"/>
                </a:solidFill>
                <a:latin typeface="Arial"/>
              </a:defRPr>
            </a:pPr>
            <a:r>
              <a:t>LangGraph Centralized State Schema with Reducers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Defining strongly-typed state transitions and non-destructive list accumulation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4754880" cy="4572000"/>
          </a:xfrm>
          <a:prstGeom prst="roundRect">
            <a:avLst/>
          </a:prstGeom>
          <a:solidFill>
            <a:srgbClr val="F3F7FC"/>
          </a:solidFill>
          <a:ln w="19050">
            <a:solidFill>
              <a:srgbClr val="C2D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spcAft>
                <a:spcPts val="1400"/>
              </a:spcAft>
              <a:defRPr sz="1700" b="1">
                <a:solidFill>
                  <a:srgbClr val="002055"/>
                </a:solidFill>
                <a:latin typeface="Arial"/>
              </a:defRPr>
            </a:pPr>
            <a:r>
              <a:t>Schema Components</a:t>
            </a:r>
          </a:p>
          <a:p>
            <a:pPr>
              <a:spcAft>
                <a:spcPts val="1000"/>
              </a:spcAft>
            </a:pPr>
            <a:r>
              <a:rPr b="1" sz="1250">
                <a:solidFill>
                  <a:srgbClr val="002055"/>
                </a:solidFill>
              </a:rPr>
              <a:t>• TypedDict Structure: </a:t>
            </a:r>
            <a:r>
              <a:rPr sz="1250">
                <a:solidFill>
                  <a:srgbClr val="1E293B"/>
                </a:solidFill>
              </a:rPr>
              <a:t>Provides static typing and IDE autocompletion for all node functions.</a:t>
            </a:r>
          </a:p>
          <a:p>
            <a:pPr>
              <a:spcAft>
                <a:spcPts val="1000"/>
              </a:spcAft>
            </a:pPr>
            <a:r>
              <a:rPr b="1" sz="1250">
                <a:solidFill>
                  <a:srgbClr val="002055"/>
                </a:solidFill>
              </a:rPr>
              <a:t>• State Reducer (operator.add): </a:t>
            </a:r>
            <a:r>
              <a:rPr sz="1250">
                <a:solidFill>
                  <a:srgbClr val="1E293B"/>
                </a:solidFill>
              </a:rPr>
              <a:t>Appends new history entries without overwriting previous attempts.</a:t>
            </a:r>
          </a:p>
          <a:p>
            <a:pPr>
              <a:spcAft>
                <a:spcPts val="1000"/>
              </a:spcAft>
            </a:pPr>
            <a:r>
              <a:rPr b="1" sz="1250">
                <a:solidFill>
                  <a:srgbClr val="002055"/>
                </a:solidFill>
              </a:rPr>
              <a:t>• Pure Node Functions: </a:t>
            </a:r>
            <a:r>
              <a:rPr sz="1250">
                <a:solidFill>
                  <a:srgbClr val="1E293B"/>
                </a:solidFill>
              </a:rPr>
              <a:t>Nodes take state and return partial updates matching the schema.</a:t>
            </a:r>
          </a:p>
          <a:p>
            <a:pPr>
              <a:spcAft>
                <a:spcPts val="1000"/>
              </a:spcAft>
            </a:pPr>
            <a:r>
              <a:rPr b="1" sz="1250">
                <a:solidFill>
                  <a:srgbClr val="002055"/>
                </a:solidFill>
              </a:rPr>
              <a:t>• Deterministic Immutability: </a:t>
            </a:r>
            <a:r>
              <a:rPr sz="1250">
                <a:solidFill>
                  <a:srgbClr val="1E293B"/>
                </a:solidFill>
              </a:rPr>
              <a:t>State is safely isolated across asynchronous node executions.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60720" y="1645920"/>
            <a:ext cx="5669280" cy="45720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from typing import TypedDict, Annotated, List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import operator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 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class AgentState(TypedDict):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    code: str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    iteration: int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    tests_passed: bool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    fix_history: Annotated[List[str], operator.add]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02055"/>
                </a:solidFill>
                <a:latin typeface="Arial"/>
              </a:defRPr>
            </a:pPr>
            <a:r>
              <a:t>PRODUCTION SAFETY</a:t>
            </a:r>
          </a:p>
          <a:p>
            <a:pPr>
              <a:spcAft>
                <a:spcPts val="200"/>
              </a:spcAft>
              <a:defRPr sz="2000" b="1">
                <a:solidFill>
                  <a:srgbClr val="0A2540"/>
                </a:solidFill>
                <a:latin typeface="Arial"/>
              </a:defRPr>
            </a:pPr>
            <a:r>
              <a:t>Persistence, Checkpointing &amp; Human-in-the-Loop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Guaranteeing state durability across server restarts and enforcing safety approval gates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3F7FC"/>
          </a:solidFill>
          <a:ln w="19050">
            <a:solidFill>
              <a:srgbClr val="C2D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spcAft>
                <a:spcPts val="1400"/>
              </a:spcAft>
              <a:defRPr sz="1800" b="1">
                <a:solidFill>
                  <a:srgbClr val="002055"/>
                </a:solidFill>
                <a:latin typeface="Arial"/>
              </a:defRPr>
            </a:pPr>
            <a:r>
              <a:t>Checkpointing Architecture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2055"/>
                </a:solidFill>
              </a:rPr>
              <a:t>• State Snapshots: </a:t>
            </a:r>
            <a:r>
              <a:rPr sz="1300">
                <a:solidFill>
                  <a:srgbClr val="1E293B"/>
                </a:solidFill>
              </a:rPr>
              <a:t>MemorySaver or SqliteSaver serializes state after every node step.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2055"/>
                </a:solidFill>
              </a:rPr>
              <a:t>• Thread Isolation: </a:t>
            </a:r>
            <a:r>
              <a:rPr sz="1300">
                <a:solidFill>
                  <a:srgbClr val="1E293B"/>
                </a:solidFill>
              </a:rPr>
              <a:t>Unique thread_id parameters isolate independent user sessions.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2055"/>
                </a:solidFill>
              </a:rPr>
              <a:t>• Time-Travel Debugging: </a:t>
            </a:r>
            <a:r>
              <a:rPr sz="1300">
                <a:solidFill>
                  <a:srgbClr val="1E293B"/>
                </a:solidFill>
              </a:rPr>
              <a:t>Roll back state to any historical checkpoint to test alternative branches.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2055"/>
                </a:solidFill>
              </a:rPr>
              <a:t>• Resilient Recovery: </a:t>
            </a:r>
            <a:r>
              <a:rPr sz="1300">
                <a:solidFill>
                  <a:srgbClr val="1E293B"/>
                </a:solidFill>
              </a:rPr>
              <a:t>Resume interrupted workflows instantly after process crashes.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FFFDF0"/>
          </a:solidFill>
          <a:ln w="19050">
            <a:solidFill>
              <a:srgbClr val="F0C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spcAft>
                <a:spcPts val="1400"/>
              </a:spcAft>
              <a:defRPr sz="1800" b="1">
                <a:solidFill>
                  <a:srgbClr val="8C5F00"/>
                </a:solidFill>
                <a:latin typeface="Arial"/>
              </a:defRPr>
            </a:pPr>
            <a:r>
              <a:t>Human-in-the-Loop (HITL) Gates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8C5F00"/>
                </a:solidFill>
              </a:rPr>
              <a:t>• Static Interrupts: </a:t>
            </a:r>
            <a:r>
              <a:rPr sz="1300">
                <a:solidFill>
                  <a:srgbClr val="1E293B"/>
                </a:solidFill>
              </a:rPr>
              <a:t>interrupt_before=['high_risk_node'] pauses graph before side effects.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8C5F00"/>
                </a:solidFill>
              </a:rPr>
              <a:t>• Human Inspection: </a:t>
            </a:r>
            <a:r>
              <a:rPr sz="1300">
                <a:solidFill>
                  <a:srgbClr val="1E293B"/>
                </a:solidFill>
              </a:rPr>
              <a:t>Operator reviews generated SQL, API calls, or financial payouts.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8C5F00"/>
                </a:solidFill>
              </a:rPr>
              <a:t>• Interactive Approval: </a:t>
            </a:r>
            <a:r>
              <a:rPr sz="1300">
                <a:solidFill>
                  <a:srgbClr val="1E293B"/>
                </a:solidFill>
              </a:rPr>
              <a:t>Operator can approve, modify state directly, or cancel execution.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8C5F00"/>
                </a:solidFill>
              </a:rPr>
              <a:t>• Clean Resumption: </a:t>
            </a:r>
            <a:r>
              <a:rPr sz="1300">
                <a:solidFill>
                  <a:srgbClr val="1E293B"/>
                </a:solidFill>
              </a:rPr>
              <a:t>Graph resumes execution seamlessly via app.invoke(None, config).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