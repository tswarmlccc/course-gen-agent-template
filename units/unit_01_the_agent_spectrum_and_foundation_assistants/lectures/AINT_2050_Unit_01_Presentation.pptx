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AINT 2050: Applied AI Agent Architectures. Emphasize that our goal this semester is demystifying the buzzword 'agent' by examining the exact engineering primitives that separate conversational chatbots from truly autonomous, tool-calling systems. Today's roadmap covers the Agent Maturity Spectrum, Google Gemini Spark, Anthropic Claude 3.5 Sonnet, the ReAct paper architecture, OpenAPI tool schemas, and pure-Python loop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fundamental definition of agency. Explain why a large language model on its own is merely a next-token prediction engine, and how wrapping it in a feedback loop with external tools creates autonomous agency.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differences. Highlight that an agent is an architecture, not just a model. The model acts as the reasoning engine (CPU), the prompt trajectory acts as RAM, and tools act as I/O peripherals.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this three-level taxonomy guides our entire course progression. In Unit 1, we master Level 1. In Unit 2, we build Level 2 workflows in n8n and Langflow. In Unit 3 and beyond, we engineer Level 3 cyclical graphs in LangGraph.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two leading frontier models powering modern agent development: Google Gemini 1.5 Pro and Anthropic Claude 3.5 Sonnet. Compare their operational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when to use which model. Gemini is unbeatable for large-context ingestion and multimodal analysis. Claude 3.5 Sonnet is the gold standard for agentic coding, precise tool calling, and structured JSON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LLM never executes Python code directly in Level 1; it reads this JSON schema, generates a JSON payload matching the arguments, and emits it to the host Python engine. The host validates the schema and executes the local function.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the seminal ReAct paper by Yao et al. Emphasize that reasoning without acting causes hallucination, while acting without reasoning leads to aimless tool thrashing. The combination produces robust autonomous behavior.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Python execution loop. Point out how exceptions are caught and passed back as observations. This gives the model the opportunity to self-heal rather than crashing the host process.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today's Level 1 fundamentals with the rest of the course. Explain why writing raw loops is necessary for foundational comprehension, but why enterprise architectures require visual tools and state graph engines.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Units 02 and 03. Emphasize that professional AI engineers know when to deploy a visual tool like n8n for rapid webhook integrations, and when to architect a LangGraph state machine for complex self-healing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production safety. Without these 3 layers, autonomous agents can enter expensive loops, crash downstream systems, or execute unauthorized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lecture and introduce Applied Lab 01. Review the requirements: students will build a pure-Python ReAct engine from scratch, implement tool schemas, dispatch function calls, and verify execution using automated unit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 cy="6858000"/>
          </a:xfrm>
          <a:prstGeom prst="rect">
            <a:avLst/>
          </a:prstGeom>
          <a:solidFill>
            <a:srgbClr val="002055"/>
          </a:solidFill>
          <a:ln>
            <a:solidFill>
              <a:srgbClr val="002055"/>
            </a:solidFill>
          </a:ln>
        </p:spPr>
        <p:style>
          <a:lnRef idx="1">
            <a:schemeClr val="accent1"/>
          </a:lnRef>
          <a:fillRef idx="3">
            <a:schemeClr val="accent1"/>
          </a:fillRef>
          <a:effectRef idx="2">
            <a:schemeClr val="accent1"/>
          </a:effectRef>
          <a:fontRef idx="minor">
            <a:schemeClr val="lt1"/>
          </a:fontRef>
        </p:style>
        <p:txBody>
          <a:bodyPr rtlCol="0" anchor="ctr" wrap="square" lIns="548640" rIns="548640"/>
          <a:lstStyle/>
          <a:p>
            <a:pPr algn="ctr">
              <a:spcAft>
                <a:spcPts val="1000"/>
              </a:spcAft>
              <a:defRPr sz="5400" b="1">
                <a:solidFill>
                  <a:srgbClr val="FFFFFF"/>
                </a:solidFill>
                <a:latin typeface="Arial"/>
              </a:defRPr>
            </a:pPr>
            <a:r>
              <a:t>AINT</a:t>
            </a:r>
          </a:p>
          <a:p>
            <a:pPr>
              <a:defRPr sz="1600" b="1">
                <a:solidFill>
                  <a:srgbClr val="FFC001"/>
                </a:solidFill>
                <a:latin typeface="Calibri"/>
              </a:defRPr>
            </a:pPr>
            <a:r>
              <a:t>Artificial Intelligence &amp; Autonomous Systems</a:t>
            </a:r>
          </a:p>
        </p:txBody>
      </p:sp>
      <p:sp>
        <p:nvSpPr>
          <p:cNvPr id="4" name="Rectangle 3"/>
          <p:cNvSpPr/>
          <p:nvPr/>
        </p:nvSpPr>
        <p:spPr>
          <a:xfrm>
            <a:off x="4389120" y="0"/>
            <a:ext cx="164592" cy="6858000"/>
          </a:xfrm>
          <a:prstGeom prst="rect">
            <a:avLst/>
          </a:prstGeom>
          <a:solidFill>
            <a:srgbClr val="FFC001"/>
          </a:solidFill>
          <a:ln>
            <a:solidFill>
              <a:srgbClr val="FFC0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0" y="1371600"/>
            <a:ext cx="6675120" cy="4389120"/>
          </a:xfrm>
          <a:prstGeom prst="rect">
            <a:avLst/>
          </a:prstGeom>
          <a:noFill/>
        </p:spPr>
        <p:txBody>
          <a:bodyPr wrap="square">
            <a:spAutoFit/>
          </a:bodyPr>
          <a:lstStyle/>
          <a:p>
            <a:pPr>
              <a:spcAft>
                <a:spcPts val="1200"/>
              </a:spcAft>
              <a:defRPr sz="1300" b="1">
                <a:solidFill>
                  <a:srgbClr val="002055"/>
                </a:solidFill>
                <a:latin typeface="Arial"/>
              </a:defRPr>
            </a:pPr>
            <a:r>
              <a:t>AINT 2050 LECTURE</a:t>
            </a:r>
          </a:p>
          <a:p>
            <a:pPr>
              <a:spcAft>
                <a:spcPts val="1400"/>
              </a:spcAft>
              <a:defRPr sz="3000" b="1">
                <a:solidFill>
                  <a:srgbClr val="0A2540"/>
                </a:solidFill>
                <a:latin typeface="Arial"/>
              </a:defRPr>
            </a:pPr>
            <a:r>
              <a:t>The AI Agent Spectrum &amp; Foundation Assistants</a:t>
            </a:r>
          </a:p>
          <a:p>
            <a:pPr>
              <a:spcAft>
                <a:spcPts val="2400"/>
              </a:spcAft>
              <a:defRPr sz="1600">
                <a:solidFill>
                  <a:srgbClr val="64748B"/>
                </a:solidFill>
                <a:latin typeface="Calibri"/>
              </a:defRPr>
            </a:pPr>
            <a:r>
              <a:t>From Conversational Spark to ReAct Cognitive Loops &amp; Tool Calling</a:t>
            </a:r>
          </a:p>
          <a:p>
            <a:pPr>
              <a:defRPr sz="1200">
                <a:solidFill>
                  <a:srgbClr val="1E293B"/>
                </a:solidFill>
                <a:latin typeface="Calibri"/>
              </a:defRPr>
            </a:pPr>
            <a:r>
              <a:t>Instructor: Tim Swarm | Laramie County Community College</a:t>
            </a:r>
            <a:br/>
            <a:r>
              <a:t>Course: AINT 2050 -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55"/>
          </a:solidFill>
          <a:ln>
            <a:solidFill>
              <a:srgbClr val="002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011680"/>
            <a:ext cx="182880" cy="2560320"/>
          </a:xfrm>
          <a:prstGeom prst="rect">
            <a:avLst/>
          </a:prstGeom>
          <a:solidFill>
            <a:srgbClr val="FFC001"/>
          </a:solidFill>
          <a:ln>
            <a:solidFill>
              <a:srgbClr val="FFC0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920240"/>
            <a:ext cx="9601200" cy="2743200"/>
          </a:xfrm>
          <a:prstGeom prst="rect">
            <a:avLst/>
          </a:prstGeom>
          <a:noFill/>
        </p:spPr>
        <p:txBody>
          <a:bodyPr wrap="square">
            <a:spAutoFit/>
          </a:bodyPr>
          <a:lstStyle/>
          <a:p>
            <a:pPr>
              <a:spcAft>
                <a:spcPts val="1000"/>
              </a:spcAft>
              <a:defRPr sz="1500" b="1">
                <a:solidFill>
                  <a:srgbClr val="FFC001"/>
                </a:solidFill>
                <a:latin typeface="Arial"/>
              </a:defRPr>
            </a:pPr>
            <a:r>
              <a:t>SECTION 01</a:t>
            </a:r>
          </a:p>
          <a:p>
            <a:pPr>
              <a:spcAft>
                <a:spcPts val="1200"/>
              </a:spcAft>
              <a:defRPr sz="3400" b="1">
                <a:solidFill>
                  <a:srgbClr val="FFFFFF"/>
                </a:solidFill>
                <a:latin typeface="Arial"/>
              </a:defRPr>
            </a:pPr>
            <a:r>
              <a:t>The Agent Taxonomy &amp; Cognitive Architecture</a:t>
            </a:r>
          </a:p>
          <a:p>
            <a:pPr>
              <a:defRPr sz="1800">
                <a:solidFill>
                  <a:srgbClr val="C8E1FA"/>
                </a:solidFill>
                <a:latin typeface="Calibri"/>
              </a:defRPr>
            </a:pPr>
            <a:r>
              <a:t>Deconstructing what transforms a probabilistic model into an autonomous actor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AGENT TAXONOMY</a:t>
            </a:r>
          </a:p>
          <a:p>
            <a:pPr>
              <a:spcAft>
                <a:spcPts val="200"/>
              </a:spcAft>
              <a:defRPr sz="2000" b="1">
                <a:solidFill>
                  <a:srgbClr val="0A2540"/>
                </a:solidFill>
                <a:latin typeface="Arial"/>
              </a:defRPr>
            </a:pPr>
            <a:r>
              <a:t>Static Chatbot vs. Autonomous Execution Agent</a:t>
            </a:r>
          </a:p>
          <a:p>
            <a:pPr>
              <a:defRPr sz="1300">
                <a:solidFill>
                  <a:srgbClr val="64748B"/>
                </a:solidFill>
                <a:latin typeface="Calibri"/>
              </a:defRPr>
            </a:pPr>
            <a:r>
              <a:t>Contrasting single-turn probabilistic generation against cyclical observation-action loops</a:t>
            </a:r>
          </a:p>
        </p:txBody>
      </p:sp>
      <p:sp>
        <p:nvSpPr>
          <p:cNvPr id="4" name="Rounded Rectangle 3"/>
          <p:cNvSpPr/>
          <p:nvPr/>
        </p:nvSpPr>
        <p:spPr>
          <a:xfrm>
            <a:off x="731520" y="1645920"/>
            <a:ext cx="5120640" cy="457200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002055"/>
                </a:solidFill>
                <a:latin typeface="Arial"/>
              </a:defRPr>
            </a:pPr>
            <a:r>
              <a:t>Static Conversational LLM</a:t>
            </a:r>
          </a:p>
          <a:p>
            <a:pPr>
              <a:spcAft>
                <a:spcPts val="1000"/>
              </a:spcAft>
            </a:pPr>
            <a:r>
              <a:rPr b="1" sz="1300">
                <a:solidFill>
                  <a:srgbClr val="002055"/>
                </a:solidFill>
              </a:rPr>
              <a:t>• Single-Turn Inference: </a:t>
            </a:r>
            <a:r>
              <a:rPr sz="1300">
                <a:solidFill>
                  <a:srgbClr val="1E293B"/>
                </a:solidFill>
              </a:rPr>
              <a:t>User inputs prompt; model emits tokens until stop token is reached.</a:t>
            </a:r>
          </a:p>
          <a:p>
            <a:pPr>
              <a:spcAft>
                <a:spcPts val="1000"/>
              </a:spcAft>
            </a:pPr>
            <a:r>
              <a:rPr b="1" sz="1300">
                <a:solidFill>
                  <a:srgbClr val="002055"/>
                </a:solidFill>
              </a:rPr>
              <a:t>• Stateless Isolation: </a:t>
            </a:r>
            <a:r>
              <a:rPr sz="1300">
                <a:solidFill>
                  <a:srgbClr val="1E293B"/>
                </a:solidFill>
              </a:rPr>
              <a:t>Model cannot inspect runtime state or verify factual claims against live systems.</a:t>
            </a:r>
          </a:p>
          <a:p>
            <a:pPr>
              <a:spcAft>
                <a:spcPts val="1000"/>
              </a:spcAft>
            </a:pPr>
            <a:r>
              <a:rPr b="1" sz="1300">
                <a:solidFill>
                  <a:srgbClr val="002055"/>
                </a:solidFill>
              </a:rPr>
              <a:t>• No Environmental Actuation: </a:t>
            </a:r>
            <a:r>
              <a:rPr sz="1300">
                <a:solidFill>
                  <a:srgbClr val="1E293B"/>
                </a:solidFill>
              </a:rPr>
              <a:t>Outputs passive recommendations; cannot query databases or invoke APIs directly.</a:t>
            </a:r>
          </a:p>
          <a:p>
            <a:pPr>
              <a:spcAft>
                <a:spcPts val="1000"/>
              </a:spcAft>
            </a:pPr>
            <a:r>
              <a:rPr b="1" sz="1300">
                <a:solidFill>
                  <a:srgbClr val="002055"/>
                </a:solidFill>
              </a:rPr>
              <a:t>• Hallucination Vulnerability: </a:t>
            </a:r>
            <a:r>
              <a:rPr sz="1300">
                <a:solidFill>
                  <a:srgbClr val="1E293B"/>
                </a:solidFill>
              </a:rPr>
              <a:t>Fills knowledge voids with plausible probabilistic tokens without verification.</a:t>
            </a:r>
          </a:p>
        </p:txBody>
      </p:sp>
      <p:sp>
        <p:nvSpPr>
          <p:cNvPr id="5" name="Rounded Rectangle 4"/>
          <p:cNvSpPr/>
          <p:nvPr/>
        </p:nvSpPr>
        <p:spPr>
          <a:xfrm>
            <a:off x="6217920" y="1645920"/>
            <a:ext cx="5120640" cy="457200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8C5F00"/>
                </a:solidFill>
                <a:latin typeface="Arial"/>
              </a:defRPr>
            </a:pPr>
            <a:r>
              <a:t>Autonomous Agent Architecture</a:t>
            </a:r>
          </a:p>
          <a:p>
            <a:pPr>
              <a:spcAft>
                <a:spcPts val="1000"/>
              </a:spcAft>
            </a:pPr>
            <a:r>
              <a:rPr b="1" sz="1300">
                <a:solidFill>
                  <a:srgbClr val="8C5F00"/>
                </a:solidFill>
              </a:rPr>
              <a:t>• Iterative Cognitive Loop: </a:t>
            </a:r>
            <a:r>
              <a:rPr sz="1300">
                <a:solidFill>
                  <a:srgbClr val="1E293B"/>
                </a:solidFill>
              </a:rPr>
              <a:t>Operates within an autonomous loop (Thought -&gt; Action -&gt; Observation).</a:t>
            </a:r>
          </a:p>
          <a:p>
            <a:pPr>
              <a:spcAft>
                <a:spcPts val="1000"/>
              </a:spcAft>
            </a:pPr>
            <a:r>
              <a:rPr b="1" sz="1300">
                <a:solidFill>
                  <a:srgbClr val="8C5F00"/>
                </a:solidFill>
              </a:rPr>
              <a:t>• External Tool Dispatch: </a:t>
            </a:r>
            <a:r>
              <a:rPr sz="1300">
                <a:solidFill>
                  <a:srgbClr val="1E293B"/>
                </a:solidFill>
              </a:rPr>
              <a:t>Translates intent into structured OpenAPI/JSON Schema function calls.</a:t>
            </a:r>
          </a:p>
          <a:p>
            <a:pPr>
              <a:spcAft>
                <a:spcPts val="1000"/>
              </a:spcAft>
            </a:pPr>
            <a:r>
              <a:rPr b="1" sz="1300">
                <a:solidFill>
                  <a:srgbClr val="8C5F00"/>
                </a:solidFill>
              </a:rPr>
              <a:t>• Environmental Grounding: </a:t>
            </a:r>
            <a:r>
              <a:rPr sz="1300">
                <a:solidFill>
                  <a:srgbClr val="1E293B"/>
                </a:solidFill>
              </a:rPr>
              <a:t>Inspects tool observation outputs and self-corrects based on runtime error logs.</a:t>
            </a:r>
          </a:p>
          <a:p>
            <a:pPr>
              <a:spcAft>
                <a:spcPts val="1000"/>
              </a:spcAft>
            </a:pPr>
            <a:r>
              <a:rPr b="1" sz="1300">
                <a:solidFill>
                  <a:srgbClr val="8C5F00"/>
                </a:solidFill>
              </a:rPr>
              <a:t>• Goal-Driven Autonomy: </a:t>
            </a:r>
            <a:r>
              <a:rPr sz="1300">
                <a:solidFill>
                  <a:srgbClr val="1E293B"/>
                </a:solidFill>
              </a:rPr>
              <a:t>Executes multi-step sub-goals until meeting deterministic completion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THE SPECTRUM</a:t>
            </a:r>
          </a:p>
          <a:p>
            <a:pPr>
              <a:spcAft>
                <a:spcPts val="200"/>
              </a:spcAft>
              <a:defRPr sz="2000" b="1">
                <a:solidFill>
                  <a:srgbClr val="0A2540"/>
                </a:solidFill>
                <a:latin typeface="Arial"/>
              </a:defRPr>
            </a:pPr>
            <a:r>
              <a:t>The 3-Level Agent Spectrum: From Spark to Stateful Graphs</a:t>
            </a:r>
          </a:p>
          <a:p>
            <a:pPr>
              <a:defRPr sz="1300">
                <a:solidFill>
                  <a:srgbClr val="64748B"/>
                </a:solidFill>
                <a:latin typeface="Calibri"/>
              </a:defRPr>
            </a:pPr>
            <a:r>
              <a:t>The progression of autonomous AI architecture across enterprise software engineering</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400"/>
              </a:spcAft>
              <a:defRPr sz="1700" b="1">
                <a:solidFill>
                  <a:srgbClr val="002055"/>
                </a:solidFill>
                <a:latin typeface="Arial"/>
              </a:defRPr>
            </a:pPr>
            <a:r>
              <a:t>Architectural Tiers of AI Agency</a:t>
            </a:r>
          </a:p>
          <a:p>
            <a:pPr>
              <a:spcAft>
                <a:spcPts val="1200"/>
              </a:spcAft>
            </a:pPr>
            <a:r>
              <a:rPr b="1" sz="1400">
                <a:solidFill>
                  <a:srgbClr val="002055"/>
                </a:solidFill>
                <a:latin typeface="Calibri"/>
              </a:rPr>
              <a:t>► Level 1: Conversational Assistants &amp; Tool Callers: </a:t>
            </a:r>
            <a:r>
              <a:rPr sz="1400">
                <a:solidFill>
                  <a:srgbClr val="1E293B"/>
                </a:solidFill>
                <a:latin typeface="Calibri"/>
              </a:rPr>
              <a:t>Foundation models (Google Gemini 1.5, Anthropic Claude 3.5 Sonnet) capable of structured reasoning, zero-shot tool selection, and linear ReAct loops within client runtimes.</a:t>
            </a:r>
          </a:p>
          <a:p>
            <a:pPr>
              <a:spcAft>
                <a:spcPts val="1200"/>
              </a:spcAft>
            </a:pPr>
            <a:r>
              <a:rPr b="1" sz="1400">
                <a:solidFill>
                  <a:srgbClr val="002055"/>
                </a:solidFill>
                <a:latin typeface="Calibri"/>
              </a:rPr>
              <a:t>► Level 2: Visual Workflow Orchestrators: </a:t>
            </a:r>
            <a:r>
              <a:rPr sz="1400">
                <a:solidFill>
                  <a:srgbClr val="1E293B"/>
                </a:solidFill>
                <a:latin typeface="Calibri"/>
              </a:rPr>
              <a:t>Low-code canvas environments (n8n, Langflow) connecting models to event-driven webhooks, modular memory buffers, and 400+ pre-built SaaS connectors.</a:t>
            </a:r>
          </a:p>
          <a:p>
            <a:pPr>
              <a:spcAft>
                <a:spcPts val="1200"/>
              </a:spcAft>
            </a:pPr>
            <a:r>
              <a:rPr b="1" sz="1400">
                <a:solidFill>
                  <a:srgbClr val="002055"/>
                </a:solidFill>
                <a:latin typeface="Calibri"/>
              </a:rPr>
              <a:t>► Level 3: Code-First Stateful Graphs: </a:t>
            </a:r>
            <a:r>
              <a:rPr sz="1400">
                <a:solidFill>
                  <a:srgbClr val="1E293B"/>
                </a:solidFill>
                <a:latin typeface="Calibri"/>
              </a:rPr>
              <a:t>Cyclical state machines (LangGraph) with strongly-typed schemas, persistent checkpointers, Human-in-the-Loop approval gates, and multi-agent supervisors.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55"/>
          </a:solidFill>
          <a:ln>
            <a:solidFill>
              <a:srgbClr val="002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011680"/>
            <a:ext cx="182880" cy="2560320"/>
          </a:xfrm>
          <a:prstGeom prst="rect">
            <a:avLst/>
          </a:prstGeom>
          <a:solidFill>
            <a:srgbClr val="FFC001"/>
          </a:solidFill>
          <a:ln>
            <a:solidFill>
              <a:srgbClr val="FFC0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920240"/>
            <a:ext cx="9601200" cy="2743200"/>
          </a:xfrm>
          <a:prstGeom prst="rect">
            <a:avLst/>
          </a:prstGeom>
          <a:noFill/>
        </p:spPr>
        <p:txBody>
          <a:bodyPr wrap="square">
            <a:spAutoFit/>
          </a:bodyPr>
          <a:lstStyle/>
          <a:p>
            <a:pPr>
              <a:spcAft>
                <a:spcPts val="1000"/>
              </a:spcAft>
              <a:defRPr sz="1500" b="1">
                <a:solidFill>
                  <a:srgbClr val="FFC001"/>
                </a:solidFill>
                <a:latin typeface="Arial"/>
              </a:defRPr>
            </a:pPr>
            <a:r>
              <a:t>SECTION 02</a:t>
            </a:r>
          </a:p>
          <a:p>
            <a:pPr>
              <a:spcAft>
                <a:spcPts val="1200"/>
              </a:spcAft>
              <a:defRPr sz="3400" b="1">
                <a:solidFill>
                  <a:srgbClr val="FFFFFF"/>
                </a:solidFill>
                <a:latin typeface="Arial"/>
              </a:defRPr>
            </a:pPr>
            <a:r>
              <a:t>Foundation Assistants: Gemini Spark &amp; Claude 3.5</a:t>
            </a:r>
          </a:p>
          <a:p>
            <a:pPr>
              <a:defRPr sz="1800">
                <a:solidFill>
                  <a:srgbClr val="C8E1FA"/>
                </a:solidFill>
                <a:latin typeface="Calibri"/>
              </a:defRPr>
            </a:pPr>
            <a:r>
              <a:t>Harnessing million-token context windows and state-of-the-art tool orchestration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MODEL FRONTIER</a:t>
            </a:r>
          </a:p>
          <a:p>
            <a:pPr>
              <a:spcAft>
                <a:spcPts val="200"/>
              </a:spcAft>
              <a:defRPr sz="2000" b="1">
                <a:solidFill>
                  <a:srgbClr val="0A2540"/>
                </a:solidFill>
                <a:latin typeface="Arial"/>
              </a:defRPr>
            </a:pPr>
            <a:r>
              <a:t>Foundation Leaders: Google Gemini 1.5 Pro vs. Anthropic Claude 3.5</a:t>
            </a:r>
          </a:p>
          <a:p>
            <a:pPr>
              <a:defRPr sz="1300">
                <a:solidFill>
                  <a:srgbClr val="64748B"/>
                </a:solidFill>
                <a:latin typeface="Calibri"/>
              </a:defRPr>
            </a:pPr>
            <a:r>
              <a:t>Evaluating architectural strengths for enterprise agent backends</a:t>
            </a:r>
          </a:p>
        </p:txBody>
      </p:sp>
      <p:sp>
        <p:nvSpPr>
          <p:cNvPr id="4" name="Rounded Rectangle 3"/>
          <p:cNvSpPr/>
          <p:nvPr/>
        </p:nvSpPr>
        <p:spPr>
          <a:xfrm>
            <a:off x="731520" y="1645920"/>
            <a:ext cx="5120640" cy="457200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002055"/>
                </a:solidFill>
                <a:latin typeface="Arial"/>
              </a:defRPr>
            </a:pPr>
            <a:r>
              <a:t>Google Gemini 1.5 Pro</a:t>
            </a:r>
          </a:p>
          <a:p>
            <a:pPr>
              <a:spcAft>
                <a:spcPts val="1000"/>
              </a:spcAft>
            </a:pPr>
            <a:r>
              <a:rPr b="1" sz="1300">
                <a:solidFill>
                  <a:srgbClr val="002055"/>
                </a:solidFill>
              </a:rPr>
              <a:t>• Massive Context Window: </a:t>
            </a:r>
            <a:r>
              <a:rPr sz="1300">
                <a:solidFill>
                  <a:srgbClr val="1E293B"/>
                </a:solidFill>
              </a:rPr>
              <a:t>Native 1M to 2M+ token window enables ingesting entire codebases and hour-long videos.</a:t>
            </a:r>
          </a:p>
          <a:p>
            <a:pPr>
              <a:spcAft>
                <a:spcPts val="1000"/>
              </a:spcAft>
            </a:pPr>
            <a:r>
              <a:rPr b="1" sz="1300">
                <a:solidFill>
                  <a:srgbClr val="002055"/>
                </a:solidFill>
              </a:rPr>
              <a:t>• Multimodal Grounding: </a:t>
            </a:r>
            <a:r>
              <a:rPr sz="1300">
                <a:solidFill>
                  <a:srgbClr val="1E293B"/>
                </a:solidFill>
              </a:rPr>
              <a:t>Natively perceives video streams, audio waveforms, images, and text simultaneously.</a:t>
            </a:r>
          </a:p>
          <a:p>
            <a:pPr>
              <a:spcAft>
                <a:spcPts val="1000"/>
              </a:spcAft>
            </a:pPr>
            <a:r>
              <a:rPr b="1" sz="1300">
                <a:solidFill>
                  <a:srgbClr val="002055"/>
                </a:solidFill>
              </a:rPr>
              <a:t>• Gemini Spark Integration: </a:t>
            </a:r>
            <a:r>
              <a:rPr sz="1300">
                <a:solidFill>
                  <a:srgbClr val="1E293B"/>
                </a:solidFill>
              </a:rPr>
              <a:t>High-speed token throughput for real-time conversational streaming and quick tool triage.</a:t>
            </a:r>
          </a:p>
          <a:p>
            <a:pPr>
              <a:spcAft>
                <a:spcPts val="1000"/>
              </a:spcAft>
            </a:pPr>
            <a:r>
              <a:rPr b="1" sz="1300">
                <a:solidFill>
                  <a:srgbClr val="002055"/>
                </a:solidFill>
              </a:rPr>
              <a:t>• System Instructions: </a:t>
            </a:r>
            <a:r>
              <a:rPr sz="1300">
                <a:solidFill>
                  <a:srgbClr val="1E293B"/>
                </a:solidFill>
              </a:rPr>
              <a:t>Deterministic developer instruction framing separating system rules from user input.</a:t>
            </a:r>
          </a:p>
        </p:txBody>
      </p:sp>
      <p:sp>
        <p:nvSpPr>
          <p:cNvPr id="5" name="Rounded Rectangle 4"/>
          <p:cNvSpPr/>
          <p:nvPr/>
        </p:nvSpPr>
        <p:spPr>
          <a:xfrm>
            <a:off x="6217920" y="1645920"/>
            <a:ext cx="5120640" cy="457200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8C5F00"/>
                </a:solidFill>
                <a:latin typeface="Arial"/>
              </a:defRPr>
            </a:pPr>
            <a:r>
              <a:t>Anthropic Claude 3.5 Sonnet</a:t>
            </a:r>
          </a:p>
          <a:p>
            <a:pPr>
              <a:spcAft>
                <a:spcPts val="1000"/>
              </a:spcAft>
            </a:pPr>
            <a:r>
              <a:rPr b="1" sz="1300">
                <a:solidFill>
                  <a:srgbClr val="8C5F00"/>
                </a:solidFill>
              </a:rPr>
              <a:t>• Industry-Leading Coding: </a:t>
            </a:r>
            <a:r>
              <a:rPr sz="1300">
                <a:solidFill>
                  <a:srgbClr val="1E293B"/>
                </a:solidFill>
              </a:rPr>
              <a:t>Top benchmark accuracy on SWE-bench for complex multi-file refactoring and debugging.</a:t>
            </a:r>
          </a:p>
          <a:p>
            <a:pPr>
              <a:spcAft>
                <a:spcPts val="1000"/>
              </a:spcAft>
            </a:pPr>
            <a:r>
              <a:rPr b="1" sz="1300">
                <a:solidFill>
                  <a:srgbClr val="8C5F00"/>
                </a:solidFill>
              </a:rPr>
              <a:t>• Artifacts &amp; Computer Use: </a:t>
            </a:r>
            <a:r>
              <a:rPr sz="1300">
                <a:solidFill>
                  <a:srgbClr val="1E293B"/>
                </a:solidFill>
              </a:rPr>
              <a:t>Perceives GUI screens, moves cursor coordinates, and interacts with desktop apps.</a:t>
            </a:r>
          </a:p>
          <a:p>
            <a:pPr>
              <a:spcAft>
                <a:spcPts val="1000"/>
              </a:spcAft>
            </a:pPr>
            <a:r>
              <a:rPr b="1" sz="1300">
                <a:solidFill>
                  <a:srgbClr val="8C5F00"/>
                </a:solidFill>
              </a:rPr>
              <a:t>• Structured Tool Formatting: </a:t>
            </a:r>
            <a:r>
              <a:rPr sz="1300">
                <a:solidFill>
                  <a:srgbClr val="1E293B"/>
                </a:solidFill>
              </a:rPr>
              <a:t>Exceptional JSON schema fidelity with minimal hallucination of argument parameters.</a:t>
            </a:r>
          </a:p>
          <a:p>
            <a:pPr>
              <a:spcAft>
                <a:spcPts val="1000"/>
              </a:spcAft>
            </a:pPr>
            <a:r>
              <a:rPr b="1" sz="1300">
                <a:solidFill>
                  <a:srgbClr val="8C5F00"/>
                </a:solidFill>
              </a:rPr>
              <a:t>• Nuanced Reasoning: </a:t>
            </a:r>
            <a:r>
              <a:rPr sz="1300">
                <a:solidFill>
                  <a:srgbClr val="1E293B"/>
                </a:solidFill>
              </a:rPr>
              <a:t>Superior adherence to edge-case safety constraints and ethical system guardrails.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TOOL CONTRACTS</a:t>
            </a:r>
          </a:p>
          <a:p>
            <a:pPr>
              <a:spcAft>
                <a:spcPts val="200"/>
              </a:spcAft>
              <a:defRPr sz="2000" b="1">
                <a:solidFill>
                  <a:srgbClr val="0A2540"/>
                </a:solidFill>
                <a:latin typeface="Arial"/>
              </a:defRPr>
            </a:pPr>
            <a:r>
              <a:t>Standardizing Tool Signatures via OpenAPI &amp; JSON Schema</a:t>
            </a:r>
          </a:p>
          <a:p>
            <a:pPr>
              <a:defRPr sz="1300">
                <a:solidFill>
                  <a:srgbClr val="64748B"/>
                </a:solidFill>
                <a:latin typeface="Calibri"/>
              </a:defRPr>
            </a:pPr>
            <a:r>
              <a:t>The universal interface bridging language models to native system functions</a:t>
            </a:r>
          </a:p>
        </p:txBody>
      </p:sp>
      <p:sp>
        <p:nvSpPr>
          <p:cNvPr id="4" name="Rounded Rectangle 3"/>
          <p:cNvSpPr/>
          <p:nvPr/>
        </p:nvSpPr>
        <p:spPr>
          <a:xfrm>
            <a:off x="731520" y="1645920"/>
            <a:ext cx="4754880" cy="457200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700" b="1">
                <a:solidFill>
                  <a:srgbClr val="002055"/>
                </a:solidFill>
                <a:latin typeface="Arial"/>
              </a:defRPr>
            </a:pPr>
            <a:r>
              <a:t>Tool Declaration Specification</a:t>
            </a:r>
          </a:p>
          <a:p>
            <a:pPr>
              <a:spcAft>
                <a:spcPts val="1000"/>
              </a:spcAft>
            </a:pPr>
            <a:r>
              <a:rPr b="1" sz="1250">
                <a:solidFill>
                  <a:srgbClr val="002055"/>
                </a:solidFill>
              </a:rPr>
              <a:t>• Contract Standard: </a:t>
            </a:r>
            <a:r>
              <a:rPr sz="1250">
                <a:solidFill>
                  <a:srgbClr val="1E293B"/>
                </a:solidFill>
              </a:rPr>
              <a:t>OpenAPI 3.0 / JSON Schema parameter dictionary.</a:t>
            </a:r>
          </a:p>
          <a:p>
            <a:pPr>
              <a:spcAft>
                <a:spcPts val="1000"/>
              </a:spcAft>
            </a:pPr>
            <a:r>
              <a:rPr b="1" sz="1250">
                <a:solidFill>
                  <a:srgbClr val="002055"/>
                </a:solidFill>
              </a:rPr>
              <a:t>• Type Constraints: </a:t>
            </a:r>
            <a:r>
              <a:rPr sz="1250">
                <a:solidFill>
                  <a:srgbClr val="1E293B"/>
                </a:solidFill>
              </a:rPr>
              <a:t>Explicit data types (string, integer, number, boolean, array).</a:t>
            </a:r>
          </a:p>
          <a:p>
            <a:pPr>
              <a:spcAft>
                <a:spcPts val="1000"/>
              </a:spcAft>
            </a:pPr>
            <a:r>
              <a:rPr b="1" sz="1250">
                <a:solidFill>
                  <a:srgbClr val="002055"/>
                </a:solidFill>
              </a:rPr>
              <a:t>• Property Descriptions: </a:t>
            </a:r>
            <a:r>
              <a:rPr sz="1250">
                <a:solidFill>
                  <a:srgbClr val="1E293B"/>
                </a:solidFill>
              </a:rPr>
              <a:t>Provides the semantic rationale guiding the LLM when to pick this tool.</a:t>
            </a:r>
          </a:p>
          <a:p>
            <a:pPr>
              <a:spcAft>
                <a:spcPts val="1000"/>
              </a:spcAft>
            </a:pPr>
            <a:r>
              <a:rPr b="1" sz="1250">
                <a:solidFill>
                  <a:srgbClr val="002055"/>
                </a:solidFill>
              </a:rPr>
              <a:t>• Required Enforcement: </a:t>
            </a:r>
            <a:r>
              <a:rPr sz="1250">
                <a:solidFill>
                  <a:srgbClr val="1E293B"/>
                </a:solidFill>
              </a:rPr>
              <a:t>Prevents runtime KeyErrors by mandating essential arguments.</a:t>
            </a:r>
          </a:p>
        </p:txBody>
      </p:sp>
      <p:sp>
        <p:nvSpPr>
          <p:cNvPr id="5" name="Rounded Rectangle 4"/>
          <p:cNvSpPr/>
          <p:nvPr/>
        </p:nvSpPr>
        <p:spPr>
          <a:xfrm>
            <a:off x="5760720" y="1645920"/>
            <a:ext cx="5669280" cy="457200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l">
              <a:spcAft>
                <a:spcPts val="150"/>
              </a:spcAft>
              <a:defRPr sz="1050">
                <a:solidFill>
                  <a:srgbClr val="8AD4FF"/>
                </a:solidFill>
                <a:latin typeface="Consolas"/>
              </a:defRPr>
            </a:pPr>
            <a:r>
              <a:t>{</a:t>
            </a:r>
          </a:p>
          <a:p>
            <a:pPr algn="l">
              <a:spcAft>
                <a:spcPts val="150"/>
              </a:spcAft>
              <a:defRPr sz="1050">
                <a:solidFill>
                  <a:srgbClr val="8AD4FF"/>
                </a:solidFill>
                <a:latin typeface="Consolas"/>
              </a:defRPr>
            </a:pPr>
            <a:r>
              <a:t>  "name": "lookup_customer_tier",</a:t>
            </a:r>
          </a:p>
          <a:p>
            <a:pPr algn="l">
              <a:spcAft>
                <a:spcPts val="150"/>
              </a:spcAft>
              <a:defRPr sz="1050">
                <a:solidFill>
                  <a:srgbClr val="8AD4FF"/>
                </a:solidFill>
                <a:latin typeface="Consolas"/>
              </a:defRPr>
            </a:pPr>
            <a:r>
              <a:t>  "description": "Queries CRM for customer membership tier and balance.",</a:t>
            </a:r>
          </a:p>
          <a:p>
            <a:pPr algn="l">
              <a:spcAft>
                <a:spcPts val="150"/>
              </a:spcAft>
              <a:defRPr sz="1050">
                <a:solidFill>
                  <a:srgbClr val="8AD4FF"/>
                </a:solidFill>
                <a:latin typeface="Consolas"/>
              </a:defRPr>
            </a:pPr>
            <a:r>
              <a:t>  "parameters": {</a:t>
            </a:r>
          </a:p>
          <a:p>
            <a:pPr algn="l">
              <a:spcAft>
                <a:spcPts val="150"/>
              </a:spcAft>
              <a:defRPr sz="1050">
                <a:solidFill>
                  <a:srgbClr val="8AD4FF"/>
                </a:solidFill>
                <a:latin typeface="Consolas"/>
              </a:defRPr>
            </a:pPr>
            <a:r>
              <a:t>    "type": "object",</a:t>
            </a:r>
          </a:p>
          <a:p>
            <a:pPr algn="l">
              <a:spcAft>
                <a:spcPts val="150"/>
              </a:spcAft>
              <a:defRPr sz="1050">
                <a:solidFill>
                  <a:srgbClr val="8AD4FF"/>
                </a:solidFill>
                <a:latin typeface="Consolas"/>
              </a:defRPr>
            </a:pPr>
            <a:r>
              <a:t>    "properties": {</a:t>
            </a:r>
          </a:p>
          <a:p>
            <a:pPr algn="l">
              <a:spcAft>
                <a:spcPts val="150"/>
              </a:spcAft>
              <a:defRPr sz="1050">
                <a:solidFill>
                  <a:srgbClr val="8AD4FF"/>
                </a:solidFill>
                <a:latin typeface="Consolas"/>
              </a:defRPr>
            </a:pPr>
            <a:r>
              <a:t>      "customer_id": {</a:t>
            </a:r>
          </a:p>
          <a:p>
            <a:pPr algn="l">
              <a:spcAft>
                <a:spcPts val="150"/>
              </a:spcAft>
              <a:defRPr sz="1050">
                <a:solidFill>
                  <a:srgbClr val="8AD4FF"/>
                </a:solidFill>
                <a:latin typeface="Consolas"/>
              </a:defRPr>
            </a:pPr>
            <a:r>
              <a:t>        "type": "string",</a:t>
            </a:r>
          </a:p>
          <a:p>
            <a:pPr algn="l">
              <a:spcAft>
                <a:spcPts val="150"/>
              </a:spcAft>
              <a:defRPr sz="1050">
                <a:solidFill>
                  <a:srgbClr val="8AD4FF"/>
                </a:solidFill>
                <a:latin typeface="Consolas"/>
              </a:defRPr>
            </a:pPr>
            <a:r>
              <a:t>        "description": "Unique ID format 'cust_1234'"</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"include_history": {</a:t>
            </a:r>
          </a:p>
          <a:p>
            <a:pPr algn="l">
              <a:spcAft>
                <a:spcPts val="150"/>
              </a:spcAft>
              <a:defRPr sz="1050">
                <a:solidFill>
                  <a:srgbClr val="8AD4FF"/>
                </a:solidFill>
                <a:latin typeface="Consolas"/>
              </a:defRPr>
            </a:pPr>
            <a:r>
              <a:t>        "type": "boolean",</a:t>
            </a:r>
          </a:p>
          <a:p>
            <a:pPr algn="l">
              <a:spcAft>
                <a:spcPts val="150"/>
              </a:spcAft>
              <a:defRPr sz="1050">
                <a:solidFill>
                  <a:srgbClr val="8AD4FF"/>
                </a:solidFill>
                <a:latin typeface="Consolas"/>
              </a:defRPr>
            </a:pPr>
            <a:r>
              <a:t>        "description": "Whether to fetch historical billing records."</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"required": ["customer_id"]</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COGNITIVE FRAMEWORK</a:t>
            </a:r>
          </a:p>
          <a:p>
            <a:pPr>
              <a:spcAft>
                <a:spcPts val="200"/>
              </a:spcAft>
              <a:defRPr sz="2000" b="1">
                <a:solidFill>
                  <a:srgbClr val="0A2540"/>
                </a:solidFill>
                <a:latin typeface="Arial"/>
              </a:defRPr>
            </a:pPr>
            <a:r>
              <a:t>The ReAct Paradigm: Synergizing Reasoning and Acting</a:t>
            </a:r>
          </a:p>
          <a:p>
            <a:pPr>
              <a:defRPr sz="1300">
                <a:solidFill>
                  <a:srgbClr val="64748B"/>
                </a:solidFill>
                <a:latin typeface="Calibri"/>
              </a:defRPr>
            </a:pPr>
            <a:r>
              <a:t>How language models decompose complex queries into iterative problem-solving steps</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400"/>
              </a:spcAft>
              <a:defRPr sz="1700" b="1">
                <a:solidFill>
                  <a:srgbClr val="002055"/>
                </a:solidFill>
                <a:latin typeface="Arial"/>
              </a:defRPr>
            </a:pPr>
            <a:r>
              <a:t>The 3-Stage ReAct Execution Cycle (Yao et al., 2022)</a:t>
            </a:r>
          </a:p>
          <a:p>
            <a:pPr>
              <a:spcAft>
                <a:spcPts val="1200"/>
              </a:spcAft>
            </a:pPr>
            <a:r>
              <a:rPr b="1" sz="1400">
                <a:solidFill>
                  <a:srgbClr val="002055"/>
                </a:solidFill>
                <a:latin typeface="Calibri"/>
              </a:rPr>
              <a:t>► Phase 1: Thought (Internal Reasoning): </a:t>
            </a:r>
            <a:r>
              <a:rPr sz="1400">
                <a:solidFill>
                  <a:srgbClr val="1E293B"/>
                </a:solidFill>
                <a:latin typeface="Calibri"/>
              </a:rPr>
              <a:t>The agent articulates its internal reasoning, breaks down the user request into sub-problems, and determines whether an external tool is required.</a:t>
            </a:r>
          </a:p>
          <a:p>
            <a:pPr>
              <a:spcAft>
                <a:spcPts val="1200"/>
              </a:spcAft>
            </a:pPr>
            <a:r>
              <a:rPr b="1" sz="1400">
                <a:solidFill>
                  <a:srgbClr val="002055"/>
                </a:solidFill>
                <a:latin typeface="Calibri"/>
              </a:rPr>
              <a:t>► Phase 2: Action (Tool Selection &amp; Dispatch): </a:t>
            </a:r>
            <a:r>
              <a:rPr sz="1400">
                <a:solidFill>
                  <a:srgbClr val="1E293B"/>
                </a:solidFill>
                <a:latin typeface="Calibri"/>
              </a:rPr>
              <a:t>The agent emits a formatted action token identifying the specific tool name and serializes the parameter values into a structured JSON string.</a:t>
            </a:r>
          </a:p>
          <a:p>
            <a:pPr>
              <a:spcAft>
                <a:spcPts val="1200"/>
              </a:spcAft>
            </a:pPr>
            <a:r>
              <a:rPr b="1" sz="1400">
                <a:solidFill>
                  <a:srgbClr val="002055"/>
                </a:solidFill>
                <a:latin typeface="Calibri"/>
              </a:rPr>
              <a:t>► Phase 3: Observation (Environment Feedback): </a:t>
            </a:r>
            <a:r>
              <a:rPr sz="1400">
                <a:solidFill>
                  <a:srgbClr val="1E293B"/>
                </a:solidFill>
                <a:latin typeface="Calibri"/>
              </a:rPr>
              <a:t>The execution engine runs the function, captures the return payload or error message, and injects it back into context as working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ENGINEERING</a:t>
            </a:r>
          </a:p>
          <a:p>
            <a:pPr>
              <a:spcAft>
                <a:spcPts val="200"/>
              </a:spcAft>
              <a:defRPr sz="2000" b="1">
                <a:solidFill>
                  <a:srgbClr val="0A2540"/>
                </a:solidFill>
                <a:latin typeface="Arial"/>
              </a:defRPr>
            </a:pPr>
            <a:r>
              <a:t>Pure-Python ReAct Engine Execution Loop</a:t>
            </a:r>
          </a:p>
          <a:p>
            <a:pPr>
              <a:defRPr sz="1300">
                <a:solidFill>
                  <a:srgbClr val="64748B"/>
                </a:solidFill>
                <a:latin typeface="Calibri"/>
              </a:defRPr>
            </a:pPr>
            <a:r>
              <a:t>Deterministic host orchestration with regex parsing and loop guardrails</a:t>
            </a:r>
          </a:p>
        </p:txBody>
      </p:sp>
      <p:sp>
        <p:nvSpPr>
          <p:cNvPr id="4" name="Rounded Rectangle 3"/>
          <p:cNvSpPr/>
          <p:nvPr/>
        </p:nvSpPr>
        <p:spPr>
          <a:xfrm>
            <a:off x="731520" y="1645920"/>
            <a:ext cx="4754880" cy="457200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700" b="1">
                <a:solidFill>
                  <a:srgbClr val="002055"/>
                </a:solidFill>
                <a:latin typeface="Arial"/>
              </a:defRPr>
            </a:pPr>
            <a:r>
              <a:t>Runtime Safeguards</a:t>
            </a:r>
          </a:p>
          <a:p>
            <a:pPr>
              <a:spcAft>
                <a:spcPts val="1000"/>
              </a:spcAft>
            </a:pPr>
            <a:r>
              <a:rPr b="1" sz="1250">
                <a:solidFill>
                  <a:srgbClr val="002055"/>
                </a:solidFill>
              </a:rPr>
              <a:t>• Max Iteration Cap: </a:t>
            </a:r>
            <a:r>
              <a:rPr sz="1250">
                <a:solidFill>
                  <a:srgbClr val="1E293B"/>
                </a:solidFill>
              </a:rPr>
              <a:t>Hard stops runaway loops if the model fails to reach a final answer.</a:t>
            </a:r>
          </a:p>
          <a:p>
            <a:pPr>
              <a:spcAft>
                <a:spcPts val="1000"/>
              </a:spcAft>
            </a:pPr>
            <a:r>
              <a:rPr b="1" sz="1250">
                <a:solidFill>
                  <a:srgbClr val="002055"/>
                </a:solidFill>
              </a:rPr>
              <a:t>• Exception Interception: </a:t>
            </a:r>
            <a:r>
              <a:rPr sz="1250">
                <a:solidFill>
                  <a:srgbClr val="1E293B"/>
                </a:solidFill>
              </a:rPr>
              <a:t>Catches runtime tool crashes and passes error text as an observation.</a:t>
            </a:r>
          </a:p>
          <a:p>
            <a:pPr>
              <a:spcAft>
                <a:spcPts val="1000"/>
              </a:spcAft>
            </a:pPr>
            <a:r>
              <a:rPr b="1" sz="1250">
                <a:solidFill>
                  <a:srgbClr val="002055"/>
                </a:solidFill>
              </a:rPr>
              <a:t>• Regex Dispatch: </a:t>
            </a:r>
            <a:r>
              <a:rPr sz="1250">
                <a:solidFill>
                  <a:srgbClr val="1E293B"/>
                </a:solidFill>
              </a:rPr>
              <a:t>Extracts 'Action: tool' and 'Action Input: json' tokens cleanly.</a:t>
            </a:r>
          </a:p>
          <a:p>
            <a:pPr>
              <a:spcAft>
                <a:spcPts val="1000"/>
              </a:spcAft>
            </a:pPr>
            <a:r>
              <a:rPr b="1" sz="1250">
                <a:solidFill>
                  <a:srgbClr val="002055"/>
                </a:solidFill>
              </a:rPr>
              <a:t>• Trajectory Logging: </a:t>
            </a:r>
            <a:r>
              <a:rPr sz="1250">
                <a:solidFill>
                  <a:srgbClr val="1E293B"/>
                </a:solidFill>
              </a:rPr>
              <a:t>Preserves immutable episodic history across every step.</a:t>
            </a:r>
          </a:p>
        </p:txBody>
      </p:sp>
      <p:sp>
        <p:nvSpPr>
          <p:cNvPr id="5" name="Rounded Rectangle 4"/>
          <p:cNvSpPr/>
          <p:nvPr/>
        </p:nvSpPr>
        <p:spPr>
          <a:xfrm>
            <a:off x="5760720" y="1645920"/>
            <a:ext cx="5669280" cy="4572000"/>
          </a:xfrm>
          <a:prstGeom prst="roundRect">
            <a:avLst/>
          </a:prstGeom>
          <a:solidFill>
            <a:srgbClr val="11182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l">
              <a:spcAft>
                <a:spcPts val="150"/>
              </a:spcAft>
              <a:defRPr sz="1050">
                <a:solidFill>
                  <a:srgbClr val="8AD4FF"/>
                </a:solidFill>
                <a:latin typeface="Consolas"/>
              </a:defRPr>
            </a:pPr>
            <a:r>
              <a:t>for step in range(max_iterations):</a:t>
            </a:r>
          </a:p>
          <a:p>
            <a:pPr algn="l">
              <a:spcAft>
                <a:spcPts val="150"/>
              </a:spcAft>
              <a:defRPr sz="1050">
                <a:solidFill>
                  <a:srgbClr val="8AD4FF"/>
                </a:solidFill>
                <a:latin typeface="Consolas"/>
              </a:defRPr>
            </a:pPr>
            <a:r>
              <a:t>    response = call_llm(scratchpad)</a:t>
            </a:r>
          </a:p>
          <a:p>
            <a:pPr algn="l">
              <a:spcAft>
                <a:spcPts val="150"/>
              </a:spcAft>
              <a:defRPr sz="1050">
                <a:solidFill>
                  <a:srgbClr val="8AD4FF"/>
                </a:solidFill>
                <a:latin typeface="Consolas"/>
              </a:defRPr>
            </a:pPr>
            <a:r>
              <a:t>    if "Final Answer:" in response:</a:t>
            </a:r>
          </a:p>
          <a:p>
            <a:pPr algn="l">
              <a:spcAft>
                <a:spcPts val="150"/>
              </a:spcAft>
              <a:defRPr sz="1050">
                <a:solidFill>
                  <a:srgbClr val="8AD4FF"/>
                </a:solidFill>
                <a:latin typeface="Consolas"/>
              </a:defRPr>
            </a:pPr>
            <a:r>
              <a:t>        return extract_answer(response)</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action, action_input = parse_action(response)</a:t>
            </a:r>
          </a:p>
          <a:p>
            <a:pPr algn="l">
              <a:spcAft>
                <a:spcPts val="150"/>
              </a:spcAft>
              <a:defRPr sz="1050">
                <a:solidFill>
                  <a:srgbClr val="8AD4FF"/>
                </a:solidFill>
                <a:latin typeface="Consolas"/>
              </a:defRPr>
            </a:pPr>
            <a:r>
              <a:t>    try:</a:t>
            </a:r>
          </a:p>
          <a:p>
            <a:pPr algn="l">
              <a:spcAft>
                <a:spcPts val="150"/>
              </a:spcAft>
              <a:defRPr sz="1050">
                <a:solidFill>
                  <a:srgbClr val="8AD4FF"/>
                </a:solidFill>
                <a:latin typeface="Consolas"/>
              </a:defRPr>
            </a:pPr>
            <a:r>
              <a:t>        obs = tool_registry.execute(action, action_input)</a:t>
            </a:r>
          </a:p>
          <a:p>
            <a:pPr algn="l">
              <a:spcAft>
                <a:spcPts val="150"/>
              </a:spcAft>
              <a:defRPr sz="1050">
                <a:solidFill>
                  <a:srgbClr val="8AD4FF"/>
                </a:solidFill>
                <a:latin typeface="Consolas"/>
              </a:defRPr>
            </a:pPr>
            <a:r>
              <a:t>    except Exception as ex:</a:t>
            </a:r>
          </a:p>
          <a:p>
            <a:pPr algn="l">
              <a:spcAft>
                <a:spcPts val="150"/>
              </a:spcAft>
              <a:defRPr sz="1050">
                <a:solidFill>
                  <a:srgbClr val="8AD4FF"/>
                </a:solidFill>
                <a:latin typeface="Consolas"/>
              </a:defRPr>
            </a:pPr>
            <a:r>
              <a:t>        obs = f"ToolExecutionError: {str(ex)}"</a:t>
            </a:r>
          </a:p>
          <a:p>
            <a:pPr algn="l">
              <a:spcAft>
                <a:spcPts val="150"/>
              </a:spcAft>
              <a:defRPr sz="1050">
                <a:solidFill>
                  <a:srgbClr val="8AD4FF"/>
                </a:solidFill>
                <a:latin typeface="Consolas"/>
              </a:defRPr>
            </a:pPr>
            <a:r>
              <a:t>        </a:t>
            </a:r>
          </a:p>
          <a:p>
            <a:pPr algn="l">
              <a:spcAft>
                <a:spcPts val="150"/>
              </a:spcAft>
              <a:defRPr sz="1050">
                <a:solidFill>
                  <a:srgbClr val="8AD4FF"/>
                </a:solidFill>
                <a:latin typeface="Consolas"/>
              </a:defRPr>
            </a:pPr>
            <a:r>
              <a:t>    scratchpad += f"\nObservation: {obs}\n"</a:t>
            </a:r>
          </a:p>
          <a:p>
            <a:pPr algn="l">
              <a:spcAft>
                <a:spcPts val="150"/>
              </a:spcAft>
              <a:defRPr sz="1050">
                <a:solidFill>
                  <a:srgbClr val="8AD4FF"/>
                </a:solidFill>
                <a:latin typeface="Consolas"/>
              </a:defRPr>
            </a:pPr>
            <a:r>
              <a:t>raise RuntimeError("Max iterations reached")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055"/>
          </a:solidFill>
          <a:ln>
            <a:solidFill>
              <a:srgbClr val="002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011680"/>
            <a:ext cx="182880" cy="2560320"/>
          </a:xfrm>
          <a:prstGeom prst="rect">
            <a:avLst/>
          </a:prstGeom>
          <a:solidFill>
            <a:srgbClr val="FFC001"/>
          </a:solidFill>
          <a:ln>
            <a:solidFill>
              <a:srgbClr val="FFC0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920240"/>
            <a:ext cx="9601200" cy="2743200"/>
          </a:xfrm>
          <a:prstGeom prst="rect">
            <a:avLst/>
          </a:prstGeom>
          <a:noFill/>
        </p:spPr>
        <p:txBody>
          <a:bodyPr wrap="square">
            <a:spAutoFit/>
          </a:bodyPr>
          <a:lstStyle/>
          <a:p>
            <a:pPr>
              <a:spcAft>
                <a:spcPts val="1000"/>
              </a:spcAft>
              <a:defRPr sz="1500" b="1">
                <a:solidFill>
                  <a:srgbClr val="FFC001"/>
                </a:solidFill>
                <a:latin typeface="Arial"/>
              </a:defRPr>
            </a:pPr>
            <a:r>
              <a:t>SECTION 03</a:t>
            </a:r>
          </a:p>
          <a:p>
            <a:pPr>
              <a:spcAft>
                <a:spcPts val="1200"/>
              </a:spcAft>
              <a:defRPr sz="3400" b="1">
                <a:solidFill>
                  <a:srgbClr val="FFFFFF"/>
                </a:solidFill>
                <a:latin typeface="Arial"/>
              </a:defRPr>
            </a:pPr>
            <a:r>
              <a:t>Bridging the Spectrum: Visual &amp; Graph Systems</a:t>
            </a:r>
          </a:p>
          <a:p>
            <a:pPr>
              <a:defRPr sz="1800">
                <a:solidFill>
                  <a:srgbClr val="C8E1FA"/>
                </a:solidFill>
                <a:latin typeface="Calibri"/>
              </a:defRPr>
            </a:pPr>
            <a:r>
              <a:t>Understanding how Level 1 loops evolve into n8n visual flows and LangGraph state machines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ADVANCED ARCHITECTURES</a:t>
            </a:r>
          </a:p>
          <a:p>
            <a:pPr>
              <a:spcAft>
                <a:spcPts val="200"/>
              </a:spcAft>
              <a:defRPr sz="2000" b="1">
                <a:solidFill>
                  <a:srgbClr val="0A2540"/>
                </a:solidFill>
                <a:latin typeface="Arial"/>
              </a:defRPr>
            </a:pPr>
            <a:r>
              <a:t>Level 2 (Visual Orchestration) vs. Level 3 (Stateful Graphs)</a:t>
            </a:r>
          </a:p>
          <a:p>
            <a:pPr>
              <a:defRPr sz="1300">
                <a:solidFill>
                  <a:srgbClr val="64748B"/>
                </a:solidFill>
                <a:latin typeface="Calibri"/>
              </a:defRPr>
            </a:pPr>
            <a:r>
              <a:t>Comparing low-code visual canvases against code-first cyclical state machines</a:t>
            </a:r>
          </a:p>
        </p:txBody>
      </p:sp>
      <p:sp>
        <p:nvSpPr>
          <p:cNvPr id="4" name="Rounded Rectangle 3"/>
          <p:cNvSpPr/>
          <p:nvPr/>
        </p:nvSpPr>
        <p:spPr>
          <a:xfrm>
            <a:off x="731520" y="1645920"/>
            <a:ext cx="5120640" cy="4572000"/>
          </a:xfrm>
          <a:prstGeom prst="roundRect">
            <a:avLst/>
          </a:prstGeom>
          <a:solidFill>
            <a:srgbClr val="F3F7FC"/>
          </a:solidFill>
          <a:ln w="19050">
            <a:solidFill>
              <a:srgbClr val="C2D6E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002055"/>
                </a:solidFill>
                <a:latin typeface="Arial"/>
              </a:defRPr>
            </a:pPr>
            <a:r>
              <a:t>Level 2: Visual Canvases (n8n &amp; Langflow)</a:t>
            </a:r>
          </a:p>
          <a:p>
            <a:pPr>
              <a:spcAft>
                <a:spcPts val="1000"/>
              </a:spcAft>
            </a:pPr>
            <a:r>
              <a:rPr b="1" sz="1300">
                <a:solidFill>
                  <a:srgbClr val="002055"/>
                </a:solidFill>
              </a:rPr>
              <a:t>• Visual DAG Nodes: </a:t>
            </a:r>
            <a:r>
              <a:rPr sz="1300">
                <a:solidFill>
                  <a:srgbClr val="1E293B"/>
                </a:solidFill>
              </a:rPr>
              <a:t>Drag-and-drop connectors for webhooks, models, and memory buffers.</a:t>
            </a:r>
          </a:p>
          <a:p>
            <a:pPr>
              <a:spcAft>
                <a:spcPts val="1000"/>
              </a:spcAft>
            </a:pPr>
            <a:r>
              <a:rPr b="1" sz="1300">
                <a:solidFill>
                  <a:srgbClr val="002055"/>
                </a:solidFill>
              </a:rPr>
              <a:t>• Enterprise Integrations: </a:t>
            </a:r>
            <a:r>
              <a:rPr sz="1300">
                <a:solidFill>
                  <a:srgbClr val="1E293B"/>
                </a:solidFill>
              </a:rPr>
              <a:t>400+ pre-built SaaS connectors to Slack, Jira, Salesforce, Stripe.</a:t>
            </a:r>
          </a:p>
          <a:p>
            <a:pPr>
              <a:spcAft>
                <a:spcPts val="1000"/>
              </a:spcAft>
            </a:pPr>
            <a:r>
              <a:rPr b="1" sz="1300">
                <a:solidFill>
                  <a:srgbClr val="002055"/>
                </a:solidFill>
              </a:rPr>
              <a:t>• Operational Velocity: </a:t>
            </a:r>
            <a:r>
              <a:rPr sz="1300">
                <a:solidFill>
                  <a:srgbClr val="1E293B"/>
                </a:solidFill>
              </a:rPr>
              <a:t>Non-engineering operations teams can inspect and modify business rules.</a:t>
            </a:r>
          </a:p>
          <a:p>
            <a:pPr>
              <a:spcAft>
                <a:spcPts val="1000"/>
              </a:spcAft>
            </a:pPr>
            <a:r>
              <a:rPr b="1" sz="1300">
                <a:solidFill>
                  <a:srgbClr val="002055"/>
                </a:solidFill>
              </a:rPr>
              <a:t>• Trade-off: </a:t>
            </a:r>
            <a:r>
              <a:rPr sz="1300">
                <a:solidFill>
                  <a:srgbClr val="1E293B"/>
                </a:solidFill>
              </a:rPr>
              <a:t>Struggles with arbitrary cyclical backtracking and deep state machines.</a:t>
            </a:r>
          </a:p>
        </p:txBody>
      </p:sp>
      <p:sp>
        <p:nvSpPr>
          <p:cNvPr id="5" name="Rounded Rectangle 4"/>
          <p:cNvSpPr/>
          <p:nvPr/>
        </p:nvSpPr>
        <p:spPr>
          <a:xfrm>
            <a:off x="6217920" y="1645920"/>
            <a:ext cx="5120640" cy="4572000"/>
          </a:xfrm>
          <a:prstGeom prst="roundRect">
            <a:avLst/>
          </a:prstGeom>
          <a:solidFill>
            <a:srgbClr val="FFFDF0"/>
          </a:solidFill>
          <a:ln w="19050">
            <a:solidFill>
              <a:srgbClr val="F0CD5A"/>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1400"/>
              </a:spcAft>
              <a:defRPr sz="1800" b="1">
                <a:solidFill>
                  <a:srgbClr val="8C5F00"/>
                </a:solidFill>
                <a:latin typeface="Arial"/>
              </a:defRPr>
            </a:pPr>
            <a:r>
              <a:t>Level 3: Stateful Graphs (LangGraph)</a:t>
            </a:r>
          </a:p>
          <a:p>
            <a:pPr>
              <a:spcAft>
                <a:spcPts val="1000"/>
              </a:spcAft>
            </a:pPr>
            <a:r>
              <a:rPr b="1" sz="1300">
                <a:solidFill>
                  <a:srgbClr val="8C5F00"/>
                </a:solidFill>
              </a:rPr>
              <a:t>• Cyclical StateGraph: </a:t>
            </a:r>
            <a:r>
              <a:rPr sz="1300">
                <a:solidFill>
                  <a:srgbClr val="1E293B"/>
                </a:solidFill>
              </a:rPr>
              <a:t>Allows true cycles (Draft -&gt; Test -&gt; Analyze -&gt; Patch -&gt; Retest).</a:t>
            </a:r>
          </a:p>
          <a:p>
            <a:pPr>
              <a:spcAft>
                <a:spcPts val="1000"/>
              </a:spcAft>
            </a:pPr>
            <a:r>
              <a:rPr b="1" sz="1300">
                <a:solidFill>
                  <a:srgbClr val="8C5F00"/>
                </a:solidFill>
              </a:rPr>
              <a:t>• Strongly Typed State: </a:t>
            </a:r>
            <a:r>
              <a:rPr sz="1300">
                <a:solidFill>
                  <a:srgbClr val="1E293B"/>
                </a:solidFill>
              </a:rPr>
              <a:t>TypedDict schema acts as immutable, version-controlled source of truth.</a:t>
            </a:r>
          </a:p>
          <a:p>
            <a:pPr>
              <a:spcAft>
                <a:spcPts val="1000"/>
              </a:spcAft>
            </a:pPr>
            <a:r>
              <a:rPr b="1" sz="1300">
                <a:solidFill>
                  <a:srgbClr val="8C5F00"/>
                </a:solidFill>
              </a:rPr>
              <a:t>• Persistent Checkpointing: </a:t>
            </a:r>
            <a:r>
              <a:rPr sz="1300">
                <a:solidFill>
                  <a:srgbClr val="1E293B"/>
                </a:solidFill>
              </a:rPr>
              <a:t>MemorySaver and SQLite snapshots allow session pause and resumption.</a:t>
            </a:r>
          </a:p>
          <a:p>
            <a:pPr>
              <a:spcAft>
                <a:spcPts val="1000"/>
              </a:spcAft>
            </a:pPr>
            <a:r>
              <a:rPr b="1" sz="1300">
                <a:solidFill>
                  <a:srgbClr val="8C5F00"/>
                </a:solidFill>
              </a:rPr>
              <a:t>• Human-in-the-Loop: </a:t>
            </a:r>
            <a:r>
              <a:rPr sz="1300">
                <a:solidFill>
                  <a:srgbClr val="1E293B"/>
                </a:solidFill>
              </a:rPr>
              <a:t>Native breakpoints pause execution before high-risk actions.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97280"/>
          </a:xfrm>
          <a:prstGeom prst="rect">
            <a:avLst/>
          </a:prstGeom>
          <a:noFill/>
        </p:spPr>
        <p:txBody>
          <a:bodyPr wrap="square" lIns="0" tIns="0" rIns="0" bIns="0">
            <a:spAutoFit/>
          </a:bodyPr>
          <a:lstStyle/>
          <a:p>
            <a:pPr>
              <a:spcAft>
                <a:spcPts val="400"/>
              </a:spcAft>
              <a:defRPr sz="1100" b="1">
                <a:solidFill>
                  <a:srgbClr val="002055"/>
                </a:solidFill>
                <a:latin typeface="Arial"/>
              </a:defRPr>
            </a:pPr>
            <a:r>
              <a:t>PRODUCTION GUARDRAILS</a:t>
            </a:r>
          </a:p>
          <a:p>
            <a:pPr>
              <a:spcAft>
                <a:spcPts val="200"/>
              </a:spcAft>
              <a:defRPr sz="2000" b="1">
                <a:solidFill>
                  <a:srgbClr val="0A2540"/>
                </a:solidFill>
                <a:latin typeface="Arial"/>
              </a:defRPr>
            </a:pPr>
            <a:r>
              <a:t>Enterprise Agent Safety: 3-Layer Defensive Architecture</a:t>
            </a:r>
          </a:p>
          <a:p>
            <a:pPr>
              <a:defRPr sz="1300">
                <a:solidFill>
                  <a:srgbClr val="64748B"/>
                </a:solidFill>
                <a:latin typeface="Calibri"/>
              </a:defRPr>
            </a:pPr>
            <a:r>
              <a:t>Preventing runaway billing, prompt injections, and destructive tool executions</a:t>
            </a:r>
          </a:p>
        </p:txBody>
      </p:sp>
      <p:sp>
        <p:nvSpPr>
          <p:cNvPr id="4" name="Rounded Rectangle 3"/>
          <p:cNvSpPr/>
          <p:nvPr/>
        </p:nvSpPr>
        <p:spPr>
          <a:xfrm>
            <a:off x="731520" y="1645920"/>
            <a:ext cx="10698480" cy="4572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400"/>
              </a:spcAft>
              <a:defRPr sz="1700" b="1">
                <a:solidFill>
                  <a:srgbClr val="002055"/>
                </a:solidFill>
                <a:latin typeface="Arial"/>
              </a:defRPr>
            </a:pPr>
            <a:r>
              <a:t>The Defensive Production Guardrail Stack</a:t>
            </a:r>
          </a:p>
          <a:p>
            <a:pPr>
              <a:spcAft>
                <a:spcPts val="1200"/>
              </a:spcAft>
            </a:pPr>
            <a:r>
              <a:rPr b="1" sz="1400">
                <a:solidFill>
                  <a:srgbClr val="002055"/>
                </a:solidFill>
                <a:latin typeface="Calibri"/>
              </a:rPr>
              <a:t>► Layer 1: Deterministic Iteration &amp; Cost Caps: </a:t>
            </a:r>
            <a:r>
              <a:rPr sz="1400">
                <a:solidFill>
                  <a:srgbClr val="1E293B"/>
                </a:solidFill>
                <a:latin typeface="Calibri"/>
              </a:rPr>
              <a:t>Enforce strict execution timeouts and recursion limits (e.g., maximum 5 iterations) to prevent runaway billing loops when tools fail.</a:t>
            </a:r>
          </a:p>
          <a:p>
            <a:pPr>
              <a:spcAft>
                <a:spcPts val="1200"/>
              </a:spcAft>
            </a:pPr>
            <a:r>
              <a:rPr b="1" sz="1400">
                <a:solidFill>
                  <a:srgbClr val="002055"/>
                </a:solidFill>
                <a:latin typeface="Calibri"/>
              </a:rPr>
              <a:t>► Layer 2: Strict Client-Side Schema Validation: </a:t>
            </a:r>
            <a:r>
              <a:rPr sz="1400">
                <a:solidFill>
                  <a:srgbClr val="1E293B"/>
                </a:solidFill>
                <a:latin typeface="Calibri"/>
              </a:rPr>
              <a:t>Validate all LLM tool arguments using Pydantic and JSON Schema before function dispatch to prevent invalid arguments or injection attacks.</a:t>
            </a:r>
          </a:p>
          <a:p>
            <a:pPr>
              <a:spcAft>
                <a:spcPts val="1200"/>
              </a:spcAft>
            </a:pPr>
            <a:r>
              <a:rPr b="1" sz="1400">
                <a:solidFill>
                  <a:srgbClr val="002055"/>
                </a:solidFill>
                <a:latin typeface="Calibri"/>
              </a:rPr>
              <a:t>► Layer 3: Human-in-the-Loop (HITL) Gateways: </a:t>
            </a:r>
            <a:r>
              <a:rPr sz="1400">
                <a:solidFill>
                  <a:srgbClr val="1E293B"/>
                </a:solidFill>
                <a:latin typeface="Calibri"/>
              </a:rPr>
              <a:t>Require cryptographic signatures and manual human approval for any destructive operations (e.g., database drops, financial refunds &gt;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 cy="6858000"/>
          </a:xfrm>
          <a:prstGeom prst="rect">
            <a:avLst/>
          </a:prstGeom>
          <a:solidFill>
            <a:srgbClr val="002055"/>
          </a:solidFill>
          <a:ln>
            <a:solidFill>
              <a:srgbClr val="002055"/>
            </a:solidFill>
          </a:ln>
        </p:spPr>
        <p:style>
          <a:lnRef idx="1">
            <a:schemeClr val="accent1"/>
          </a:lnRef>
          <a:fillRef idx="3">
            <a:schemeClr val="accent1"/>
          </a:fillRef>
          <a:effectRef idx="2">
            <a:schemeClr val="accent1"/>
          </a:effectRef>
          <a:fontRef idx="minor">
            <a:schemeClr val="lt1"/>
          </a:fontRef>
        </p:style>
        <p:txBody>
          <a:bodyPr rtlCol="0" anchor="ctr" wrap="square" lIns="548640" rIns="548640"/>
          <a:lstStyle/>
          <a:p>
            <a:pPr algn="ctr">
              <a:spcAft>
                <a:spcPts val="1000"/>
              </a:spcAft>
              <a:defRPr sz="5400" b="1">
                <a:solidFill>
                  <a:srgbClr val="FFFFFF"/>
                </a:solidFill>
                <a:latin typeface="Arial"/>
              </a:defRPr>
            </a:pPr>
            <a:r>
              <a:t>LAB 1</a:t>
            </a:r>
          </a:p>
          <a:p>
            <a:pPr>
              <a:defRPr sz="1600" b="1">
                <a:solidFill>
                  <a:srgbClr val="FFC001"/>
                </a:solidFill>
                <a:latin typeface="Calibri"/>
              </a:defRPr>
            </a:pPr>
            <a:r>
              <a:t>Applied Hands-On Engineering</a:t>
            </a:r>
          </a:p>
        </p:txBody>
      </p:sp>
      <p:sp>
        <p:nvSpPr>
          <p:cNvPr id="4" name="Rectangle 3"/>
          <p:cNvSpPr/>
          <p:nvPr/>
        </p:nvSpPr>
        <p:spPr>
          <a:xfrm>
            <a:off x="4389120" y="0"/>
            <a:ext cx="164592" cy="6858000"/>
          </a:xfrm>
          <a:prstGeom prst="rect">
            <a:avLst/>
          </a:prstGeom>
          <a:solidFill>
            <a:srgbClr val="FFC001"/>
          </a:solidFill>
          <a:ln>
            <a:solidFill>
              <a:srgbClr val="FFC0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37760" y="1371600"/>
            <a:ext cx="6675120" cy="4389120"/>
          </a:xfrm>
          <a:prstGeom prst="rect">
            <a:avLst/>
          </a:prstGeom>
          <a:noFill/>
        </p:spPr>
        <p:txBody>
          <a:bodyPr wrap="square">
            <a:spAutoFit/>
          </a:bodyPr>
          <a:lstStyle/>
          <a:p>
            <a:pPr>
              <a:spcAft>
                <a:spcPts val="1200"/>
              </a:spcAft>
              <a:defRPr sz="1300" b="1">
                <a:solidFill>
                  <a:srgbClr val="002055"/>
                </a:solidFill>
                <a:latin typeface="Arial"/>
              </a:defRPr>
            </a:pPr>
            <a:r>
              <a:t>APPLIED LAB MISSION</a:t>
            </a:r>
          </a:p>
          <a:p>
            <a:pPr>
              <a:spcAft>
                <a:spcPts val="1400"/>
              </a:spcAft>
              <a:defRPr sz="3000" b="1">
                <a:solidFill>
                  <a:srgbClr val="0A2540"/>
                </a:solidFill>
                <a:latin typeface="Arial"/>
              </a:defRPr>
            </a:pPr>
            <a:r>
              <a:t>Unit 01 Lab: Pure-Python Multi-Tool ReAct Agent</a:t>
            </a:r>
          </a:p>
          <a:p>
            <a:pPr>
              <a:spcAft>
                <a:spcPts val="2400"/>
              </a:spcAft>
              <a:defRPr sz="1600">
                <a:solidFill>
                  <a:srgbClr val="64748B"/>
                </a:solidFill>
                <a:latin typeface="Calibri"/>
              </a:defRPr>
            </a:pPr>
            <a:r>
              <a:t>Implementing Schemas, Dynamic Dispatching, and Recursion Guardrails</a:t>
            </a:r>
          </a:p>
          <a:p>
            <a:pPr>
              <a:defRPr sz="1200">
                <a:solidFill>
                  <a:srgbClr val="1E293B"/>
                </a:solidFill>
                <a:latin typeface="Calibri"/>
              </a:defRPr>
            </a:pPr>
            <a:r>
              <a:t>Due Date: Sunday 11:59 PM | SpeedGrader Submission</a:t>
            </a:r>
            <a:br/>
            <a:r>
              <a:t>Deliverable: lab1_starter.py (Passing 100% Assertions)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